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has two labs: Malicious Third-Party Integration (existing) and AI Agent Tool Abuse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Malicious Third-Party Integration and AI Agent Tool Abuse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tool use from Module 1's architecture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function calling as the mechanism behind tool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risk introduced by third-party plugins and connectors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agents as multi-step autonomous planners.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theme of the Malicious Third-Party Integration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over-broad permission grants as a root cause of tool abuse.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theme of the AI Agent Tool Abuse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Zero Trust as the guiding mitigation framework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the Malicious Third-Party Integration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the AI Agent Tool Abuse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assessing tool permission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least-privilege mitigation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both labs that accompany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topics and four practical skills before moving to Module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and preview Module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766691"/>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AI SECURITY PRACTITIONER · MODULE 7 OF 10</a:t>
            </a:r>
            <a:endParaRPr lang="en-US" sz="1950" dirty="0"/>
          </a:p>
        </p:txBody>
      </p:sp>
      <p:sp>
        <p:nvSpPr>
          <p:cNvPr id="4" name="Text 2"/>
          <p:cNvSpPr/>
          <p:nvPr/>
        </p:nvSpPr>
        <p:spPr>
          <a:xfrm>
            <a:off x="952500" y="4285804"/>
            <a:ext cx="16874490" cy="1558230"/>
          </a:xfrm>
          <a:prstGeom prst="rect">
            <a:avLst/>
          </a:prstGeom>
          <a:noFill/>
          <a:ln/>
        </p:spPr>
        <p:txBody>
          <a:bodyPr wrap="square" lIns="25400" tIns="25400" rIns="25400" bIns="25400" rtlCol="0" anchor="t">
            <a:normAutofit/>
          </a:bodyPr>
          <a:lstStyle/>
          <a:p>
            <a:pPr algn="l" indent="0" marL="0">
              <a:lnSpc>
                <a:spcPct val="91200"/>
              </a:lnSpc>
              <a:buNone/>
            </a:pPr>
            <a:r>
              <a:rPr lang="en-US" sz="5700" b="1" dirty="0">
                <a:solidFill>
                  <a:srgbClr val="F5F7FB"/>
                </a:solidFill>
                <a:latin typeface="Arial" pitchFamily="34" charset="0"/>
                <a:ea typeface="Arial" pitchFamily="34" charset="-122"/>
                <a:cs typeface="Arial" pitchFamily="34" charset="-120"/>
              </a:rPr>
              <a:t>Third-Party, Tool &amp; Agent Security</a:t>
            </a:r>
            <a:endParaRPr lang="en-US" sz="5700" dirty="0"/>
          </a:p>
        </p:txBody>
      </p:sp>
      <p:sp>
        <p:nvSpPr>
          <p:cNvPr id="5" name="Text 3"/>
          <p:cNvSpPr/>
          <p:nvPr/>
        </p:nvSpPr>
        <p:spPr>
          <a:xfrm>
            <a:off x="952500" y="6072634"/>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How AI systems become vulnerable when connected to tools, plugins, and third parties</a:t>
            </a:r>
            <a:endParaRPr lang="en-US" sz="3000" dirty="0"/>
          </a:p>
        </p:txBody>
      </p:sp>
      <p:sp>
        <p:nvSpPr>
          <p:cNvPr id="6" name="Text 4"/>
          <p:cNvSpPr/>
          <p:nvPr/>
        </p:nvSpPr>
        <p:spPr>
          <a:xfrm>
            <a:off x="952500" y="9696450"/>
            <a:ext cx="1956509"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891A1"/>
                </a:solidFill>
                <a:latin typeface="Arial" pitchFamily="34" charset="0"/>
                <a:ea typeface="Arial" pitchFamily="34" charset="-122"/>
                <a:cs typeface="Arial" pitchFamily="34" charset="-120"/>
              </a:rPr>
              <a:t>My Cyber Academy</a:t>
            </a:r>
            <a:endParaRPr lang="en-US" sz="1650" dirty="0"/>
          </a:p>
        </p:txBody>
      </p:sp>
      <p:sp>
        <p:nvSpPr>
          <p:cNvPr id="7" name="Text 5"/>
          <p:cNvSpPr/>
          <p:nvPr/>
        </p:nvSpPr>
        <p:spPr>
          <a:xfrm>
            <a:off x="15278174" y="9696450"/>
            <a:ext cx="2263058"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CYBER </a:t>
            </a:r>
            <a:pPr algn="l" indent="0" marL="0">
              <a:buNone/>
            </a:pPr>
            <a:r>
              <a:rPr lang="en-US" sz="1650" b="1" spc="150" kern="0" dirty="0">
                <a:solidFill>
                  <a:srgbClr val="8891A1"/>
                </a:solidFill>
                <a:latin typeface="Arial" pitchFamily="34" charset="0"/>
                <a:ea typeface="Arial" pitchFamily="34" charset="-122"/>
                <a:cs typeface="Arial" pitchFamily="34" charset="-120"/>
              </a:rPr>
              <a:t>ACADEMY</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LEARNING OBJECTIVES</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By the end of this module, you will be able to</a:t>
            </a:r>
            <a:endParaRPr lang="en-US" sz="4800" dirty="0"/>
          </a:p>
        </p:txBody>
      </p:sp>
      <p:sp>
        <p:nvSpPr>
          <p:cNvPr id="5" name="Shape 3"/>
          <p:cNvSpPr/>
          <p:nvPr/>
        </p:nvSpPr>
        <p:spPr>
          <a:xfrm>
            <a:off x="952500" y="2438400"/>
            <a:ext cx="8058150" cy="966788"/>
          </a:xfrm>
          <a:prstGeom prst="roundRect">
            <a:avLst>
              <a:gd name="adj" fmla="val 15764"/>
            </a:avLst>
          </a:prstGeom>
          <a:solidFill>
            <a:srgbClr val="FFFFFF">
              <a:alpha val="2000"/>
            </a:srgbClr>
          </a:solidFill>
          <a:ln w="9525">
            <a:solidFill>
              <a:srgbClr val="2A2F3A"/>
            </a:solidFill>
            <a:prstDash val="solid"/>
          </a:ln>
        </p:spPr>
      </p:sp>
      <p:sp>
        <p:nvSpPr>
          <p:cNvPr id="6" name="Text 4"/>
          <p:cNvSpPr/>
          <p:nvPr/>
        </p:nvSpPr>
        <p:spPr>
          <a:xfrm>
            <a:off x="1266825" y="2752725"/>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Identify unsafe AI tool integrations</a:t>
            </a:r>
            <a:endParaRPr lang="en-US" sz="2250" dirty="0"/>
          </a:p>
        </p:txBody>
      </p:sp>
      <p:sp>
        <p:nvSpPr>
          <p:cNvPr id="7" name="Shape 5"/>
          <p:cNvSpPr/>
          <p:nvPr/>
        </p:nvSpPr>
        <p:spPr>
          <a:xfrm>
            <a:off x="9277350" y="2438400"/>
            <a:ext cx="8058150" cy="966788"/>
          </a:xfrm>
          <a:prstGeom prst="roundRect">
            <a:avLst>
              <a:gd name="adj" fmla="val 15764"/>
            </a:avLst>
          </a:prstGeom>
          <a:solidFill>
            <a:srgbClr val="FFFFFF">
              <a:alpha val="2000"/>
            </a:srgbClr>
          </a:solidFill>
          <a:ln w="9525">
            <a:solidFill>
              <a:srgbClr val="2A2F3A"/>
            </a:solidFill>
            <a:prstDash val="solid"/>
          </a:ln>
        </p:spPr>
      </p:sp>
      <p:sp>
        <p:nvSpPr>
          <p:cNvPr id="8" name="Text 6"/>
          <p:cNvSpPr/>
          <p:nvPr/>
        </p:nvSpPr>
        <p:spPr>
          <a:xfrm>
            <a:off x="9591675" y="2752725"/>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Test whether AI agents can perform unintended actions</a:t>
            </a:r>
            <a:endParaRPr lang="en-US" sz="2250" dirty="0"/>
          </a:p>
        </p:txBody>
      </p:sp>
      <p:sp>
        <p:nvSpPr>
          <p:cNvPr id="9" name="Shape 7"/>
          <p:cNvSpPr/>
          <p:nvPr/>
        </p:nvSpPr>
        <p:spPr>
          <a:xfrm>
            <a:off x="952500" y="3671888"/>
            <a:ext cx="8058150" cy="966788"/>
          </a:xfrm>
          <a:prstGeom prst="roundRect">
            <a:avLst>
              <a:gd name="adj" fmla="val 15764"/>
            </a:avLst>
          </a:prstGeom>
          <a:solidFill>
            <a:srgbClr val="FFFFFF">
              <a:alpha val="2000"/>
            </a:srgbClr>
          </a:solidFill>
          <a:ln w="9525">
            <a:solidFill>
              <a:srgbClr val="2A2F3A"/>
            </a:solidFill>
            <a:prstDash val="solid"/>
          </a:ln>
        </p:spPr>
      </p:sp>
      <p:sp>
        <p:nvSpPr>
          <p:cNvPr id="10" name="Text 8"/>
          <p:cNvSpPr/>
          <p:nvPr/>
        </p:nvSpPr>
        <p:spPr>
          <a:xfrm>
            <a:off x="1266825" y="3986213"/>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Assess tool permission boundaries</a:t>
            </a:r>
            <a:endParaRPr lang="en-US" sz="2250" dirty="0"/>
          </a:p>
        </p:txBody>
      </p:sp>
      <p:sp>
        <p:nvSpPr>
          <p:cNvPr id="11" name="Shape 9"/>
          <p:cNvSpPr/>
          <p:nvPr/>
        </p:nvSpPr>
        <p:spPr>
          <a:xfrm>
            <a:off x="9277350" y="3671888"/>
            <a:ext cx="8058150" cy="966788"/>
          </a:xfrm>
          <a:prstGeom prst="roundRect">
            <a:avLst>
              <a:gd name="adj" fmla="val 15764"/>
            </a:avLst>
          </a:prstGeom>
          <a:solidFill>
            <a:srgbClr val="FFFFFF">
              <a:alpha val="2000"/>
            </a:srgbClr>
          </a:solidFill>
          <a:ln w="9525">
            <a:solidFill>
              <a:srgbClr val="2A2F3A"/>
            </a:solidFill>
            <a:prstDash val="solid"/>
          </a:ln>
        </p:spPr>
      </p:sp>
      <p:sp>
        <p:nvSpPr>
          <p:cNvPr id="12" name="Text 10"/>
          <p:cNvSpPr/>
          <p:nvPr/>
        </p:nvSpPr>
        <p:spPr>
          <a:xfrm>
            <a:off x="9591675" y="3986213"/>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Recommend least-privilege controls for AI tools and agents</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1</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AI Tool Use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 model calls a discrete, developer-exposed function — a "tool" — to perform an action or retrieve data it cannot access directly through generation alone.</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2</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Function Calling</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The model produces a structured call — function name and parameters — which the application executes on the model's behalf, then returns the result to the model.</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3</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Plugin and Connector Risks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Third-party plugins extend what the model can do, but also extend the attack surface to include the plugin author's code, infrastructure, and update process.</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4</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Agentic Workflows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Agents plan and chain multiple tool calls autonomously toward a goal, compounding risk since each step's output can influence the next step's action.</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5</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Third-Party Trust &amp; Supply Chain Exposure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Integrating a malicious or compromised third-party service extends trust to code and infrastructure the practitioner's organisation does not control.</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6</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Unsafe Permissions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Tools granted broader permissions than their intended function requires give an attacker more to work with if that tool is manipulated.</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7</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Tool Abuse &amp; API Action Abuse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 manipulated model can be tricked into calling a legitimate tool with unintended parameters, or chaining tools toward an action never intended by its developer.</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8</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Zero Trust Principles for AI Integrations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Never implicitly trust a tool call because it came from the model. Verify every action against least-privilege permissions and explicit policy, every time.</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 · LAB: MALICIOUS THIRD-PARTY INTEGRATION</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Identifying Unsafe AI Tool Integrations</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Review each connected tool, plugin, or third-party service for the level of trust it is implicitly granted by the application.</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 · LAB: AI AGENT TOOL ABUSE</a:t>
            </a:r>
            <a:endParaRPr lang="en-US" sz="1950" dirty="0"/>
          </a:p>
        </p:txBody>
      </p:sp>
      <p:sp>
        <p:nvSpPr>
          <p:cNvPr id="4" name="Text 2"/>
          <p:cNvSpPr/>
          <p:nvPr/>
        </p:nvSpPr>
        <p:spPr>
          <a:xfrm>
            <a:off x="952500" y="1300163"/>
            <a:ext cx="16874490" cy="1476375"/>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Testing Whether Agents Can Perform Unintended Actions</a:t>
            </a:r>
            <a:endParaRPr lang="en-US" sz="4800" dirty="0"/>
          </a:p>
        </p:txBody>
      </p:sp>
      <p:sp>
        <p:nvSpPr>
          <p:cNvPr id="5" name="Shape 3"/>
          <p:cNvSpPr/>
          <p:nvPr/>
        </p:nvSpPr>
        <p:spPr>
          <a:xfrm>
            <a:off x="952500" y="3157538"/>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3471863"/>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Within agreed scope, attempt to manipulate the agent into chaining tool calls toward an action outside its intended purpose.</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Assessing Tool Permission Boundaries</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Compare each tool's granted permissions against what its intended function actually requires, flagging any excess.</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Recommending Least-Privilege Controls</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Recommend scoping each tool to the minimum permissions it needs, and requiring explicit approval for higher-risk actions.</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483769"/>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LAB ALIGNMENT</a:t>
            </a:r>
            <a:endParaRPr lang="en-US" sz="1950" dirty="0"/>
          </a:p>
        </p:txBody>
      </p:sp>
      <p:sp>
        <p:nvSpPr>
          <p:cNvPr id="4" name="Shape 2"/>
          <p:cNvSpPr/>
          <p:nvPr/>
        </p:nvSpPr>
        <p:spPr>
          <a:xfrm>
            <a:off x="952500" y="4002881"/>
            <a:ext cx="16383000" cy="1333500"/>
          </a:xfrm>
          <a:prstGeom prst="roundRect">
            <a:avLst>
              <a:gd name="adj" fmla="val 11429"/>
            </a:avLst>
          </a:prstGeom>
          <a:solidFill>
            <a:srgbClr val="FFFFFF">
              <a:alpha val="2000"/>
            </a:srgbClr>
          </a:solidFill>
          <a:ln w="9525">
            <a:solidFill>
              <a:srgbClr val="2A2F3A"/>
            </a:solidFill>
            <a:prstDash val="solid"/>
          </a:ln>
        </p:spPr>
      </p:sp>
      <p:sp>
        <p:nvSpPr>
          <p:cNvPr id="5" name="Text 3"/>
          <p:cNvSpPr/>
          <p:nvPr/>
        </p:nvSpPr>
        <p:spPr>
          <a:xfrm>
            <a:off x="1266825" y="4317206"/>
            <a:ext cx="17329785" cy="400050"/>
          </a:xfrm>
          <a:prstGeom prst="rect">
            <a:avLst/>
          </a:prstGeom>
          <a:noFill/>
          <a:ln/>
        </p:spPr>
        <p:txBody>
          <a:bodyPr wrap="square" lIns="25400" tIns="25400" rIns="25400" bIns="25400" rtlCol="0" anchor="t">
            <a:normAutofit/>
          </a:bodyPr>
          <a:lstStyle/>
          <a:p>
            <a:pPr algn="l" indent="0" marL="0">
              <a:buNone/>
            </a:pPr>
            <a:r>
              <a:rPr lang="en-US" sz="2400" b="1" dirty="0">
                <a:solidFill>
                  <a:srgbClr val="FF6A00"/>
                </a:solidFill>
                <a:latin typeface="Arial" pitchFamily="34" charset="0"/>
                <a:ea typeface="Arial" pitchFamily="34" charset="-122"/>
                <a:cs typeface="Arial" pitchFamily="34" charset="-120"/>
              </a:rPr>
              <a:t>Malicious Third-Party Integration</a:t>
            </a:r>
            <a:endParaRPr lang="en-US" sz="2400" dirty="0"/>
          </a:p>
        </p:txBody>
      </p:sp>
      <p:sp>
        <p:nvSpPr>
          <p:cNvPr id="6" name="Text 4"/>
          <p:cNvSpPr/>
          <p:nvPr/>
        </p:nvSpPr>
        <p:spPr>
          <a:xfrm>
            <a:off x="1266825" y="4755356"/>
            <a:ext cx="1732978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B8C0CF"/>
                </a:solidFill>
                <a:latin typeface="Arial" pitchFamily="34" charset="0"/>
                <a:ea typeface="Arial" pitchFamily="34" charset="-122"/>
                <a:cs typeface="Arial" pitchFamily="34" charset="-120"/>
              </a:rPr>
              <a:t>Existing lab · Medium difficulty · Third-Party &amp; Tool Security</a:t>
            </a:r>
            <a:endParaRPr lang="en-US" sz="1800" dirty="0"/>
          </a:p>
        </p:txBody>
      </p:sp>
      <p:sp>
        <p:nvSpPr>
          <p:cNvPr id="7" name="Shape 5"/>
          <p:cNvSpPr/>
          <p:nvPr/>
        </p:nvSpPr>
        <p:spPr>
          <a:xfrm>
            <a:off x="952500" y="5564981"/>
            <a:ext cx="16383000" cy="1333500"/>
          </a:xfrm>
          <a:prstGeom prst="roundRect">
            <a:avLst>
              <a:gd name="adj" fmla="val 11429"/>
            </a:avLst>
          </a:prstGeom>
          <a:solidFill>
            <a:srgbClr val="FFFFFF">
              <a:alpha val="2000"/>
            </a:srgbClr>
          </a:solidFill>
          <a:ln w="9525">
            <a:solidFill>
              <a:srgbClr val="2A2F3A"/>
            </a:solidFill>
            <a:prstDash val="solid"/>
          </a:ln>
        </p:spPr>
      </p:sp>
      <p:sp>
        <p:nvSpPr>
          <p:cNvPr id="8" name="Text 6"/>
          <p:cNvSpPr/>
          <p:nvPr/>
        </p:nvSpPr>
        <p:spPr>
          <a:xfrm>
            <a:off x="1266825" y="5879306"/>
            <a:ext cx="17329785" cy="400050"/>
          </a:xfrm>
          <a:prstGeom prst="rect">
            <a:avLst/>
          </a:prstGeom>
          <a:noFill/>
          <a:ln/>
        </p:spPr>
        <p:txBody>
          <a:bodyPr wrap="square" lIns="25400" tIns="25400" rIns="25400" bIns="25400" rtlCol="0" anchor="t">
            <a:normAutofit/>
          </a:bodyPr>
          <a:lstStyle/>
          <a:p>
            <a:pPr algn="l" indent="0" marL="0">
              <a:buNone/>
            </a:pPr>
            <a:r>
              <a:rPr lang="en-US" sz="2400" b="1" dirty="0">
                <a:solidFill>
                  <a:srgbClr val="FF6A00"/>
                </a:solidFill>
                <a:latin typeface="Arial" pitchFamily="34" charset="0"/>
                <a:ea typeface="Arial" pitchFamily="34" charset="-122"/>
                <a:cs typeface="Arial" pitchFamily="34" charset="-120"/>
              </a:rPr>
              <a:t>AI Agent Tool Abuse</a:t>
            </a:r>
            <a:endParaRPr lang="en-US" sz="2400" dirty="0"/>
          </a:p>
        </p:txBody>
      </p:sp>
      <p:sp>
        <p:nvSpPr>
          <p:cNvPr id="9" name="Text 7"/>
          <p:cNvSpPr/>
          <p:nvPr/>
        </p:nvSpPr>
        <p:spPr>
          <a:xfrm>
            <a:off x="1266825" y="6317456"/>
            <a:ext cx="1732978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B8C0CF"/>
                </a:solidFill>
                <a:latin typeface="Arial" pitchFamily="34" charset="0"/>
                <a:ea typeface="Arial" pitchFamily="34" charset="-122"/>
                <a:cs typeface="Arial" pitchFamily="34" charset="-120"/>
              </a:rPr>
              <a:t>Proposed lab · Hard difficulty · Agent Security</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175867" y="3793331"/>
            <a:ext cx="3936266" cy="328613"/>
          </a:xfrm>
          <a:prstGeom prst="rect">
            <a:avLst/>
          </a:prstGeom>
          <a:noFill/>
          <a:ln/>
        </p:spPr>
        <p:txBody>
          <a:bodyPr wrap="square" lIns="25400" tIns="25400" rIns="25400" bIns="25400" rtlCol="0" anchor="t">
            <a:normAutofit/>
          </a:bodyPr>
          <a:lstStyle/>
          <a:p>
            <a:pPr algn="ctr" indent="0" marL="0">
              <a:buNone/>
            </a:pPr>
            <a:r>
              <a:rPr lang="en-US" sz="1950" b="1" spc="150" kern="0" dirty="0">
                <a:solidFill>
                  <a:srgbClr val="FF6A00"/>
                </a:solidFill>
                <a:latin typeface="Arial" pitchFamily="34" charset="0"/>
                <a:ea typeface="Arial" pitchFamily="34" charset="-122"/>
                <a:cs typeface="Arial" pitchFamily="34" charset="-120"/>
              </a:rPr>
              <a:t>ASSESSMENT WEIGHTING</a:t>
            </a:r>
            <a:endParaRPr lang="en-US" sz="1950" dirty="0"/>
          </a:p>
        </p:txBody>
      </p:sp>
      <p:sp>
        <p:nvSpPr>
          <p:cNvPr id="4" name="Text 2"/>
          <p:cNvSpPr/>
          <p:nvPr/>
        </p:nvSpPr>
        <p:spPr>
          <a:xfrm>
            <a:off x="7128149" y="4274344"/>
            <a:ext cx="4031627" cy="1752600"/>
          </a:xfrm>
          <a:prstGeom prst="rect">
            <a:avLst/>
          </a:prstGeom>
          <a:noFill/>
          <a:ln/>
        </p:spPr>
        <p:txBody>
          <a:bodyPr wrap="square" lIns="25400" tIns="25400" rIns="25400" bIns="25400" rtlCol="0" anchor="t">
            <a:normAutofit/>
          </a:bodyPr>
          <a:lstStyle/>
          <a:p>
            <a:pPr algn="ctr" indent="0" marL="0">
              <a:lnSpc>
                <a:spcPct val="86957"/>
              </a:lnSpc>
              <a:buNone/>
            </a:pPr>
            <a:r>
              <a:rPr lang="en-US" sz="13500" b="1" dirty="0">
                <a:solidFill>
                  <a:srgbClr val="FF6A00"/>
                </a:solidFill>
                <a:latin typeface="Arial" pitchFamily="34" charset="0"/>
                <a:ea typeface="Arial" pitchFamily="34" charset="-122"/>
                <a:cs typeface="Arial" pitchFamily="34" charset="-120"/>
              </a:rPr>
              <a:t>10%</a:t>
            </a:r>
            <a:endParaRPr lang="en-US" sz="13500" dirty="0"/>
          </a:p>
        </p:txBody>
      </p:sp>
      <p:sp>
        <p:nvSpPr>
          <p:cNvPr id="5" name="Text 3"/>
          <p:cNvSpPr/>
          <p:nvPr/>
        </p:nvSpPr>
        <p:spPr>
          <a:xfrm>
            <a:off x="5450272" y="6141244"/>
            <a:ext cx="7387456" cy="485775"/>
          </a:xfrm>
          <a:prstGeom prst="rect">
            <a:avLst/>
          </a:prstGeom>
          <a:noFill/>
          <a:ln/>
        </p:spPr>
        <p:txBody>
          <a:bodyPr wrap="square" lIns="25400" tIns="25400" rIns="25400" bIns="25400" rtlCol="0" anchor="t">
            <a:normAutofit/>
          </a:bodyPr>
          <a:lstStyle/>
          <a:p>
            <a:pPr algn="ctr" indent="0" marL="0">
              <a:buNone/>
            </a:pPr>
            <a:r>
              <a:rPr lang="en-US" sz="3000" dirty="0">
                <a:solidFill>
                  <a:srgbClr val="B8C0CF"/>
                </a:solidFill>
                <a:latin typeface="Arial" pitchFamily="34" charset="0"/>
                <a:ea typeface="Arial" pitchFamily="34" charset="-122"/>
                <a:cs typeface="Arial" pitchFamily="34" charset="-120"/>
              </a:rPr>
              <a:t>of the AI Security Practitioner certification</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KNOWLEDGE CHECK</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Quick Question</a:t>
            </a:r>
            <a:endParaRPr lang="en-US" sz="4800" dirty="0"/>
          </a:p>
        </p:txBody>
      </p:sp>
      <p:sp>
        <p:nvSpPr>
          <p:cNvPr id="5" name="Shape 3"/>
          <p:cNvSpPr/>
          <p:nvPr/>
        </p:nvSpPr>
        <p:spPr>
          <a:xfrm>
            <a:off x="952500" y="2362200"/>
            <a:ext cx="16383000" cy="3371850"/>
          </a:xfrm>
          <a:prstGeom prst="roundRect">
            <a:avLst>
              <a:gd name="adj" fmla="val 4520"/>
            </a:avLst>
          </a:prstGeom>
          <a:solidFill>
            <a:srgbClr val="FFFFFF">
              <a:alpha val="2000"/>
            </a:srgbClr>
          </a:solidFill>
          <a:ln w="9525">
            <a:solidFill>
              <a:srgbClr val="2A2F3A"/>
            </a:solidFill>
            <a:prstDash val="solid"/>
          </a:ln>
        </p:spPr>
      </p:sp>
      <p:sp>
        <p:nvSpPr>
          <p:cNvPr id="6" name="Text 4"/>
          <p:cNvSpPr/>
          <p:nvPr/>
        </p:nvSpPr>
        <p:spPr>
          <a:xfrm>
            <a:off x="1266825" y="2676525"/>
            <a:ext cx="16245840" cy="2781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F5F7FB"/>
                </a:solidFill>
                <a:highlight>
                  <a:srgbClr val="FFFFFF"/>
                </a:highlight>
                <a:latin typeface="Arial" pitchFamily="34" charset="0"/>
                <a:ea typeface="Arial" pitchFamily="34" charset="-122"/>
                <a:cs typeface="Arial" pitchFamily="34" charset="-120"/>
              </a:rPr>
              <a:t>What does the principle of least privilege recommend for AI tools and agents? </a:t>
            </a:r>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 Granting every tool full administrative access for convenience B. Scoping each tool to the minimum permissions its intended function requires C. Removing all tools from the AI application D. Allowing agents to approve their own high-risk actions</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SUMMARY</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Module 7 Summary</a:t>
            </a:r>
            <a:endParaRPr lang="en-US" sz="4800" dirty="0"/>
          </a:p>
        </p:txBody>
      </p:sp>
      <p:sp>
        <p:nvSpPr>
          <p:cNvPr id="5" name="Shape 3"/>
          <p:cNvSpPr/>
          <p:nvPr/>
        </p:nvSpPr>
        <p:spPr>
          <a:xfrm>
            <a:off x="952500" y="2400300"/>
            <a:ext cx="16383000" cy="942975"/>
          </a:xfrm>
          <a:prstGeom prst="roundRect">
            <a:avLst>
              <a:gd name="adj" fmla="val 16162"/>
            </a:avLst>
          </a:prstGeom>
          <a:solidFill>
            <a:srgbClr val="FFFFFF">
              <a:alpha val="2000"/>
            </a:srgbClr>
          </a:solidFill>
          <a:ln w="9525">
            <a:solidFill>
              <a:srgbClr val="2A2F3A"/>
            </a:solidFill>
            <a:prstDash val="solid"/>
          </a:ln>
        </p:spPr>
      </p:sp>
      <p:sp>
        <p:nvSpPr>
          <p:cNvPr id="6" name="Text 4"/>
          <p:cNvSpPr/>
          <p:nvPr/>
        </p:nvSpPr>
        <p:spPr>
          <a:xfrm>
            <a:off x="1266825" y="2714625"/>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Tool use, function calling, and plugins extend the AI attack surface</a:t>
            </a:r>
            <a:endParaRPr lang="en-US" sz="2100" dirty="0"/>
          </a:p>
        </p:txBody>
      </p:sp>
      <p:sp>
        <p:nvSpPr>
          <p:cNvPr id="7" name="Shape 5"/>
          <p:cNvSpPr/>
          <p:nvPr/>
        </p:nvSpPr>
        <p:spPr>
          <a:xfrm>
            <a:off x="952500" y="3571875"/>
            <a:ext cx="16383000" cy="942975"/>
          </a:xfrm>
          <a:prstGeom prst="roundRect">
            <a:avLst>
              <a:gd name="adj" fmla="val 16162"/>
            </a:avLst>
          </a:prstGeom>
          <a:solidFill>
            <a:srgbClr val="FFFFFF">
              <a:alpha val="2000"/>
            </a:srgbClr>
          </a:solidFill>
          <a:ln w="9525">
            <a:solidFill>
              <a:srgbClr val="2A2F3A"/>
            </a:solidFill>
            <a:prstDash val="solid"/>
          </a:ln>
        </p:spPr>
      </p:sp>
      <p:sp>
        <p:nvSpPr>
          <p:cNvPr id="8" name="Text 6"/>
          <p:cNvSpPr/>
          <p:nvPr/>
        </p:nvSpPr>
        <p:spPr>
          <a:xfrm>
            <a:off x="1266825" y="3886200"/>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Agentic workflows compound risk by chaining autonomous tool calls</a:t>
            </a:r>
            <a:endParaRPr lang="en-US" sz="2100" dirty="0"/>
          </a:p>
        </p:txBody>
      </p:sp>
      <p:sp>
        <p:nvSpPr>
          <p:cNvPr id="9" name="Shape 7"/>
          <p:cNvSpPr/>
          <p:nvPr/>
        </p:nvSpPr>
        <p:spPr>
          <a:xfrm>
            <a:off x="952500" y="4743450"/>
            <a:ext cx="16383000" cy="942975"/>
          </a:xfrm>
          <a:prstGeom prst="roundRect">
            <a:avLst>
              <a:gd name="adj" fmla="val 16162"/>
            </a:avLst>
          </a:prstGeom>
          <a:solidFill>
            <a:srgbClr val="FFFFFF">
              <a:alpha val="2000"/>
            </a:srgbClr>
          </a:solidFill>
          <a:ln w="9525">
            <a:solidFill>
              <a:srgbClr val="2A2F3A"/>
            </a:solidFill>
            <a:prstDash val="solid"/>
          </a:ln>
        </p:spPr>
      </p:sp>
      <p:sp>
        <p:nvSpPr>
          <p:cNvPr id="10" name="Text 8"/>
          <p:cNvSpPr/>
          <p:nvPr/>
        </p:nvSpPr>
        <p:spPr>
          <a:xfrm>
            <a:off x="1266825" y="5057775"/>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Zero Trust principles mean never implicitly trusting a model-originated action</a:t>
            </a:r>
            <a:endParaRPr lang="en-US" sz="2100" dirty="0"/>
          </a:p>
        </p:txBody>
      </p:sp>
      <p:sp>
        <p:nvSpPr>
          <p:cNvPr id="11" name="Shape 9"/>
          <p:cNvSpPr/>
          <p:nvPr/>
        </p:nvSpPr>
        <p:spPr>
          <a:xfrm>
            <a:off x="952500" y="5915025"/>
            <a:ext cx="16383000" cy="942975"/>
          </a:xfrm>
          <a:prstGeom prst="roundRect">
            <a:avLst>
              <a:gd name="adj" fmla="val 16162"/>
            </a:avLst>
          </a:prstGeom>
          <a:solidFill>
            <a:srgbClr val="FFFFFF">
              <a:alpha val="2000"/>
            </a:srgbClr>
          </a:solidFill>
          <a:ln w="9525">
            <a:solidFill>
              <a:srgbClr val="2A2F3A"/>
            </a:solidFill>
            <a:prstDash val="solid"/>
          </a:ln>
        </p:spPr>
      </p:sp>
      <p:sp>
        <p:nvSpPr>
          <p:cNvPr id="12" name="Text 10"/>
          <p:cNvSpPr/>
          <p:nvPr/>
        </p:nvSpPr>
        <p:spPr>
          <a:xfrm>
            <a:off x="1266825" y="6229350"/>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Least-privilege permissions are the primary mitigation for tool and agent abuse</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917156"/>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NEXT</a:t>
            </a:r>
            <a:endParaRPr lang="en-US" sz="1950" dirty="0"/>
          </a:p>
        </p:txBody>
      </p:sp>
      <p:sp>
        <p:nvSpPr>
          <p:cNvPr id="4" name="Text 2"/>
          <p:cNvSpPr/>
          <p:nvPr/>
        </p:nvSpPr>
        <p:spPr>
          <a:xfrm>
            <a:off x="952500" y="4398169"/>
            <a:ext cx="16874490" cy="1295400"/>
          </a:xfrm>
          <a:prstGeom prst="rect">
            <a:avLst/>
          </a:prstGeom>
          <a:noFill/>
          <a:ln/>
        </p:spPr>
        <p:txBody>
          <a:bodyPr wrap="square" lIns="25400" tIns="25400" rIns="25400" bIns="25400" rtlCol="0" anchor="t">
            <a:normAutofit/>
          </a:bodyPr>
          <a:lstStyle/>
          <a:p>
            <a:pPr algn="l" indent="0" marL="0">
              <a:lnSpc>
                <a:spcPct val="95652"/>
              </a:lnSpc>
              <a:buNone/>
            </a:pPr>
            <a:r>
              <a:rPr lang="en-US" sz="4500" b="1" dirty="0">
                <a:solidFill>
                  <a:srgbClr val="F5F7FB"/>
                </a:solidFill>
                <a:latin typeface="Arial" pitchFamily="34" charset="0"/>
                <a:ea typeface="Arial" pitchFamily="34" charset="-122"/>
                <a:cs typeface="Arial" pitchFamily="34" charset="-120"/>
              </a:rPr>
              <a:t>Module 8: Model Lifecycle, Data Poisoning &amp; Pipeline Security</a:t>
            </a:r>
            <a:endParaRPr lang="en-US" sz="4500" dirty="0"/>
          </a:p>
        </p:txBody>
      </p:sp>
      <p:sp>
        <p:nvSpPr>
          <p:cNvPr id="5" name="Text 3"/>
          <p:cNvSpPr/>
          <p:nvPr/>
        </p:nvSpPr>
        <p:spPr>
          <a:xfrm>
            <a:off x="952500" y="5922169"/>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Complete the Module 7 PBQ, Flashcards, Cheat Sheet, and Quiz before continuing</a:t>
            </a:r>
            <a:endParaRPr lang="en-US" sz="3000" dirty="0"/>
          </a:p>
        </p:txBody>
      </p:sp>
      <p:sp>
        <p:nvSpPr>
          <p:cNvPr id="6" name="Text 4"/>
          <p:cNvSpPr/>
          <p:nvPr/>
        </p:nvSpPr>
        <p:spPr>
          <a:xfrm>
            <a:off x="952500" y="9696450"/>
            <a:ext cx="1956509"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891A1"/>
                </a:solidFill>
                <a:latin typeface="Arial" pitchFamily="34" charset="0"/>
                <a:ea typeface="Arial" pitchFamily="34" charset="-122"/>
                <a:cs typeface="Arial" pitchFamily="34" charset="-120"/>
              </a:rPr>
              <a:t>My Cyber Academy</a:t>
            </a:r>
            <a:endParaRPr lang="en-US" sz="1650" dirty="0"/>
          </a:p>
        </p:txBody>
      </p:sp>
      <p:sp>
        <p:nvSpPr>
          <p:cNvPr id="7" name="Text 5"/>
          <p:cNvSpPr/>
          <p:nvPr/>
        </p:nvSpPr>
        <p:spPr>
          <a:xfrm>
            <a:off x="15278174" y="9696450"/>
            <a:ext cx="2263058"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CYBER </a:t>
            </a:r>
            <a:pPr algn="l" indent="0" marL="0">
              <a:buNone/>
            </a:pPr>
            <a:r>
              <a:rPr lang="en-US" sz="1650" b="1" spc="150" kern="0" dirty="0">
                <a:solidFill>
                  <a:srgbClr val="8891A1"/>
                </a:solidFill>
                <a:latin typeface="Arial" pitchFamily="34" charset="0"/>
                <a:ea typeface="Arial" pitchFamily="34" charset="-122"/>
                <a:cs typeface="Arial" pitchFamily="34" charset="-120"/>
              </a:rPr>
              <a:t>ACADEMY</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2026-07-27T21:46:31Z</dcterms:created>
  <dcterms:modified xsi:type="dcterms:W3CDTF">2026-07-27T21:46:31Z</dcterms:modified>
</cp:coreProperties>
</file>