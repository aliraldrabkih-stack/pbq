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introduces the first hands-on lab: Prompt Injection Fundamentals.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Prompt Injection Fundamentals lab and PBQ.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direct injection with a simple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indirect injection arrives via retrieved or third-party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comparison to reinforce the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override attempts as a specific injection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role confusion using a persona-swap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risk of the model revealing its own hidden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jailbreaking as a category of layered/creative bypass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the trust boundary concept from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exam theme — spend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this is one layer, not the whole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the Prompt Injection Fundamentals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identifying weak instruction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controlled, authorised scope only — no destructive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reporting-oriented thinking: impact and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hands-on lab that accompanies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to set revision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topics and four practical skills before moving to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and preview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726656"/>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AI SECURITY PRACTITIONER · MODULE 3 OF 10</a:t>
            </a:r>
            <a:endParaRPr lang="en-US" sz="1950" dirty="0"/>
          </a:p>
        </p:txBody>
      </p:sp>
      <p:sp>
        <p:nvSpPr>
          <p:cNvPr id="4" name="Text 2"/>
          <p:cNvSpPr/>
          <p:nvPr/>
        </p:nvSpPr>
        <p:spPr>
          <a:xfrm>
            <a:off x="952500" y="4245769"/>
            <a:ext cx="16874490" cy="1638300"/>
          </a:xfrm>
          <a:prstGeom prst="rect">
            <a:avLst/>
          </a:prstGeom>
          <a:noFill/>
          <a:ln/>
        </p:spPr>
        <p:txBody>
          <a:bodyPr wrap="square" lIns="25400" tIns="25400" rIns="25400" bIns="25400" rtlCol="0" anchor="t">
            <a:normAutofit/>
          </a:bodyPr>
          <a:lstStyle/>
          <a:p>
            <a:pPr algn="l" indent="0" marL="0">
              <a:lnSpc>
                <a:spcPct val="91304"/>
              </a:lnSpc>
              <a:buNone/>
            </a:pPr>
            <a:r>
              <a:rPr lang="en-US" sz="6000" b="1" dirty="0">
                <a:solidFill>
                  <a:srgbClr val="F5F7FB"/>
                </a:solidFill>
                <a:latin typeface="Arial" pitchFamily="34" charset="0"/>
                <a:ea typeface="Arial" pitchFamily="34" charset="-122"/>
                <a:cs typeface="Arial" pitchFamily="34" charset="-120"/>
              </a:rPr>
              <a:t>Prompt Injection &amp; Instruction Manipulation</a:t>
            </a:r>
            <a:endParaRPr lang="en-US" sz="6000" dirty="0"/>
          </a:p>
        </p:txBody>
      </p:sp>
      <p:sp>
        <p:nvSpPr>
          <p:cNvPr id="5" name="Text 3"/>
          <p:cNvSpPr/>
          <p:nvPr/>
        </p:nvSpPr>
        <p:spPr>
          <a:xfrm>
            <a:off x="952500" y="6112669"/>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How attackers manipulate LLM behaviour through crafted prompts</a:t>
            </a:r>
            <a:endParaRPr lang="en-US" sz="3000" dirty="0"/>
          </a:p>
        </p:txBody>
      </p:sp>
      <p:sp>
        <p:nvSpPr>
          <p:cNvPr id="6" name="Text 4"/>
          <p:cNvSpPr/>
          <p:nvPr/>
        </p:nvSpPr>
        <p:spPr>
          <a:xfrm>
            <a:off x="952500" y="9696450"/>
            <a:ext cx="1956509"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891A1"/>
                </a:solidFill>
                <a:latin typeface="Arial" pitchFamily="34" charset="0"/>
                <a:ea typeface="Arial" pitchFamily="34" charset="-122"/>
                <a:cs typeface="Arial" pitchFamily="34" charset="-120"/>
              </a:rPr>
              <a:t>My Cyber Academy</a:t>
            </a:r>
            <a:endParaRPr lang="en-US" sz="1650" dirty="0"/>
          </a:p>
        </p:txBody>
      </p:sp>
      <p:sp>
        <p:nvSpPr>
          <p:cNvPr id="7" name="Text 5"/>
          <p:cNvSpPr/>
          <p:nvPr/>
        </p:nvSpPr>
        <p:spPr>
          <a:xfrm>
            <a:off x="15278174" y="9696450"/>
            <a:ext cx="2263058"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CYBER </a:t>
            </a:r>
            <a:pPr algn="l" indent="0" marL="0">
              <a:buNone/>
            </a:pPr>
            <a:r>
              <a:rPr lang="en-US" sz="1650" b="1" spc="150" kern="0" dirty="0">
                <a:solidFill>
                  <a:srgbClr val="8891A1"/>
                </a:solidFill>
                <a:latin typeface="Arial" pitchFamily="34" charset="0"/>
                <a:ea typeface="Arial" pitchFamily="34" charset="-122"/>
                <a:cs typeface="Arial" pitchFamily="34" charset="-120"/>
              </a:rPr>
              <a:t>ACADEMY</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LEARNING OBJECTIVES</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By the end of this module, you will be able to</a:t>
            </a:r>
            <a:endParaRPr lang="en-US" sz="4800" dirty="0"/>
          </a:p>
        </p:txBody>
      </p:sp>
      <p:sp>
        <p:nvSpPr>
          <p:cNvPr id="5" name="Shape 3"/>
          <p:cNvSpPr/>
          <p:nvPr/>
        </p:nvSpPr>
        <p:spPr>
          <a:xfrm>
            <a:off x="952500" y="2438400"/>
            <a:ext cx="8058150" cy="966788"/>
          </a:xfrm>
          <a:prstGeom prst="roundRect">
            <a:avLst>
              <a:gd name="adj" fmla="val 15764"/>
            </a:avLst>
          </a:prstGeom>
          <a:solidFill>
            <a:srgbClr val="FFFFFF">
              <a:alpha val="2000"/>
            </a:srgbClr>
          </a:solidFill>
          <a:ln w="9525">
            <a:solidFill>
              <a:srgbClr val="2A2F3A"/>
            </a:solidFill>
            <a:prstDash val="solid"/>
          </a:ln>
        </p:spPr>
      </p:sp>
      <p:sp>
        <p:nvSpPr>
          <p:cNvPr id="6" name="Text 4"/>
          <p:cNvSpPr/>
          <p:nvPr/>
        </p:nvSpPr>
        <p:spPr>
          <a:xfrm>
            <a:off x="1266825" y="2752725"/>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Test an AI application for prompt injection</a:t>
            </a:r>
            <a:endParaRPr lang="en-US" sz="2250" dirty="0"/>
          </a:p>
        </p:txBody>
      </p:sp>
      <p:sp>
        <p:nvSpPr>
          <p:cNvPr id="7" name="Shape 5"/>
          <p:cNvSpPr/>
          <p:nvPr/>
        </p:nvSpPr>
        <p:spPr>
          <a:xfrm>
            <a:off x="9277350" y="2438400"/>
            <a:ext cx="8058150" cy="966788"/>
          </a:xfrm>
          <a:prstGeom prst="roundRect">
            <a:avLst>
              <a:gd name="adj" fmla="val 15764"/>
            </a:avLst>
          </a:prstGeom>
          <a:solidFill>
            <a:srgbClr val="FFFFFF">
              <a:alpha val="2000"/>
            </a:srgbClr>
          </a:solidFill>
          <a:ln w="9525">
            <a:solidFill>
              <a:srgbClr val="2A2F3A"/>
            </a:solidFill>
            <a:prstDash val="solid"/>
          </a:ln>
        </p:spPr>
      </p:sp>
      <p:sp>
        <p:nvSpPr>
          <p:cNvPr id="8" name="Text 6"/>
          <p:cNvSpPr/>
          <p:nvPr/>
        </p:nvSpPr>
        <p:spPr>
          <a:xfrm>
            <a:off x="9591675" y="2752725"/>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Identify weak instruction hierarchy</a:t>
            </a:r>
            <a:endParaRPr lang="en-US" sz="2250" dirty="0"/>
          </a:p>
        </p:txBody>
      </p:sp>
      <p:sp>
        <p:nvSpPr>
          <p:cNvPr id="9" name="Shape 7"/>
          <p:cNvSpPr/>
          <p:nvPr/>
        </p:nvSpPr>
        <p:spPr>
          <a:xfrm>
            <a:off x="952500" y="3671888"/>
            <a:ext cx="8058150" cy="966788"/>
          </a:xfrm>
          <a:prstGeom prst="roundRect">
            <a:avLst>
              <a:gd name="adj" fmla="val 15764"/>
            </a:avLst>
          </a:prstGeom>
          <a:solidFill>
            <a:srgbClr val="FFFFFF">
              <a:alpha val="2000"/>
            </a:srgbClr>
          </a:solidFill>
          <a:ln w="9525">
            <a:solidFill>
              <a:srgbClr val="2A2F3A"/>
            </a:solidFill>
            <a:prstDash val="solid"/>
          </a:ln>
        </p:spPr>
      </p:sp>
      <p:sp>
        <p:nvSpPr>
          <p:cNvPr id="10" name="Text 8"/>
          <p:cNvSpPr/>
          <p:nvPr/>
        </p:nvSpPr>
        <p:spPr>
          <a:xfrm>
            <a:off x="1266825" y="3986213"/>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Attempt controlled bypass of system instructions</a:t>
            </a:r>
            <a:endParaRPr lang="en-US" sz="2250" dirty="0"/>
          </a:p>
        </p:txBody>
      </p:sp>
      <p:sp>
        <p:nvSpPr>
          <p:cNvPr id="11" name="Shape 9"/>
          <p:cNvSpPr/>
          <p:nvPr/>
        </p:nvSpPr>
        <p:spPr>
          <a:xfrm>
            <a:off x="9277350" y="3671888"/>
            <a:ext cx="8058150" cy="966788"/>
          </a:xfrm>
          <a:prstGeom prst="roundRect">
            <a:avLst>
              <a:gd name="adj" fmla="val 15764"/>
            </a:avLst>
          </a:prstGeom>
          <a:solidFill>
            <a:srgbClr val="FFFFFF">
              <a:alpha val="2000"/>
            </a:srgbClr>
          </a:solidFill>
          <a:ln w="9525">
            <a:solidFill>
              <a:srgbClr val="2A2F3A"/>
            </a:solidFill>
            <a:prstDash val="solid"/>
          </a:ln>
        </p:spPr>
      </p:sp>
      <p:sp>
        <p:nvSpPr>
          <p:cNvPr id="12" name="Text 10"/>
          <p:cNvSpPr/>
          <p:nvPr/>
        </p:nvSpPr>
        <p:spPr>
          <a:xfrm>
            <a:off x="9591675" y="3986213"/>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Explain impact and mitigation</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1</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Direct Prompt Injection</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The attacker's instructions are typed directly into the user input field, attempting to override the system prompt's rules within the same conversation turn.</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1 (CONT.)</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Indirect Prompt Injection</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Malicious instructions are hidden inside content the model later retrieves and reads — a webpage, document, or email — rather than typed by the user directly.</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1 (CONT.)</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Direct vs Indirect Injection</a:t>
            </a:r>
            <a:endParaRPr lang="en-US" sz="4800" dirty="0"/>
          </a:p>
        </p:txBody>
      </p:sp>
      <p:sp>
        <p:nvSpPr>
          <p:cNvPr id="5" name="Shape 3"/>
          <p:cNvSpPr/>
          <p:nvPr/>
        </p:nvSpPr>
        <p:spPr>
          <a:xfrm>
            <a:off x="952500" y="2400300"/>
            <a:ext cx="2380580" cy="633413"/>
          </a:xfrm>
          <a:prstGeom prst="rect">
            <a:avLst/>
          </a:prstGeom>
          <a:solidFill>
            <a:srgbClr val="FF6A00">
              <a:alpha val="18000"/>
            </a:srgbClr>
          </a:solidFill>
          <a:ln/>
        </p:spPr>
      </p:sp>
      <p:sp>
        <p:nvSpPr>
          <p:cNvPr id="6" name="Shape 4"/>
          <p:cNvSpPr/>
          <p:nvPr/>
        </p:nvSpPr>
        <p:spPr>
          <a:xfrm>
            <a:off x="952500" y="3024188"/>
            <a:ext cx="2380580" cy="9525"/>
          </a:xfrm>
          <a:prstGeom prst="rect">
            <a:avLst/>
          </a:prstGeom>
          <a:solidFill>
            <a:srgbClr val="B85100"/>
          </a:solidFill>
          <a:ln/>
        </p:spPr>
      </p:sp>
      <p:sp>
        <p:nvSpPr>
          <p:cNvPr id="7" name="Text 5"/>
          <p:cNvSpPr/>
          <p:nvPr/>
        </p:nvSpPr>
        <p:spPr>
          <a:xfrm>
            <a:off x="1104900" y="2533650"/>
            <a:ext cx="2151980" cy="395288"/>
          </a:xfrm>
          <a:prstGeom prst="rect">
            <a:avLst/>
          </a:prstGeom>
          <a:noFill/>
          <a:ln/>
        </p:spPr>
        <p:txBody>
          <a:bodyPr wrap="square" lIns="25400" tIns="25400" rIns="25400" bIns="2540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Property</a:t>
            </a:r>
            <a:endParaRPr lang="en-US" sz="2400" dirty="0"/>
          </a:p>
        </p:txBody>
      </p:sp>
      <p:sp>
        <p:nvSpPr>
          <p:cNvPr id="8" name="Shape 6"/>
          <p:cNvSpPr/>
          <p:nvPr/>
        </p:nvSpPr>
        <p:spPr>
          <a:xfrm>
            <a:off x="3333080" y="2400300"/>
            <a:ext cx="5402982" cy="633413"/>
          </a:xfrm>
          <a:prstGeom prst="rect">
            <a:avLst/>
          </a:prstGeom>
          <a:solidFill>
            <a:srgbClr val="FF6A00">
              <a:alpha val="18000"/>
            </a:srgbClr>
          </a:solidFill>
          <a:ln/>
        </p:spPr>
      </p:sp>
      <p:sp>
        <p:nvSpPr>
          <p:cNvPr id="9" name="Shape 7"/>
          <p:cNvSpPr/>
          <p:nvPr/>
        </p:nvSpPr>
        <p:spPr>
          <a:xfrm>
            <a:off x="3333080" y="3024188"/>
            <a:ext cx="5402982" cy="9525"/>
          </a:xfrm>
          <a:prstGeom prst="rect">
            <a:avLst/>
          </a:prstGeom>
          <a:solidFill>
            <a:srgbClr val="B85100"/>
          </a:solidFill>
          <a:ln/>
        </p:spPr>
      </p:sp>
      <p:sp>
        <p:nvSpPr>
          <p:cNvPr id="10" name="Text 8"/>
          <p:cNvSpPr/>
          <p:nvPr/>
        </p:nvSpPr>
        <p:spPr>
          <a:xfrm>
            <a:off x="3485480" y="2533650"/>
            <a:ext cx="5260271" cy="395288"/>
          </a:xfrm>
          <a:prstGeom prst="rect">
            <a:avLst/>
          </a:prstGeom>
          <a:noFill/>
          <a:ln/>
        </p:spPr>
        <p:txBody>
          <a:bodyPr wrap="square" lIns="25400" tIns="25400" rIns="25400" bIns="2540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Direct Injection</a:t>
            </a:r>
            <a:endParaRPr lang="en-US" sz="2400" dirty="0"/>
          </a:p>
        </p:txBody>
      </p:sp>
      <p:sp>
        <p:nvSpPr>
          <p:cNvPr id="11" name="Shape 9"/>
          <p:cNvSpPr/>
          <p:nvPr/>
        </p:nvSpPr>
        <p:spPr>
          <a:xfrm>
            <a:off x="8736062" y="2400300"/>
            <a:ext cx="8599438" cy="633413"/>
          </a:xfrm>
          <a:prstGeom prst="rect">
            <a:avLst/>
          </a:prstGeom>
          <a:solidFill>
            <a:srgbClr val="FF6A00">
              <a:alpha val="18000"/>
            </a:srgbClr>
          </a:solidFill>
          <a:ln/>
        </p:spPr>
      </p:sp>
      <p:sp>
        <p:nvSpPr>
          <p:cNvPr id="12" name="Shape 10"/>
          <p:cNvSpPr/>
          <p:nvPr/>
        </p:nvSpPr>
        <p:spPr>
          <a:xfrm>
            <a:off x="8736062" y="3024188"/>
            <a:ext cx="8599438" cy="9525"/>
          </a:xfrm>
          <a:prstGeom prst="rect">
            <a:avLst/>
          </a:prstGeom>
          <a:solidFill>
            <a:srgbClr val="B85100"/>
          </a:solidFill>
          <a:ln/>
        </p:spPr>
      </p:sp>
      <p:sp>
        <p:nvSpPr>
          <p:cNvPr id="13" name="Text 11"/>
          <p:cNvSpPr/>
          <p:nvPr/>
        </p:nvSpPr>
        <p:spPr>
          <a:xfrm>
            <a:off x="8888462" y="2533650"/>
            <a:ext cx="8552621" cy="395288"/>
          </a:xfrm>
          <a:prstGeom prst="rect">
            <a:avLst/>
          </a:prstGeom>
          <a:noFill/>
          <a:ln/>
        </p:spPr>
        <p:txBody>
          <a:bodyPr wrap="square" lIns="25400" tIns="25400" rIns="25400" bIns="2540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Indirect Injection</a:t>
            </a:r>
            <a:endParaRPr lang="en-US" sz="2400" dirty="0"/>
          </a:p>
        </p:txBody>
      </p:sp>
      <p:sp>
        <p:nvSpPr>
          <p:cNvPr id="14" name="Shape 12"/>
          <p:cNvSpPr/>
          <p:nvPr/>
        </p:nvSpPr>
        <p:spPr>
          <a:xfrm>
            <a:off x="952500" y="3638550"/>
            <a:ext cx="2380580" cy="9525"/>
          </a:xfrm>
          <a:prstGeom prst="rect">
            <a:avLst/>
          </a:prstGeom>
          <a:solidFill>
            <a:srgbClr val="2A2F3A"/>
          </a:solidFill>
          <a:ln/>
        </p:spPr>
      </p:sp>
      <p:sp>
        <p:nvSpPr>
          <p:cNvPr id="15" name="Text 13"/>
          <p:cNvSpPr/>
          <p:nvPr/>
        </p:nvSpPr>
        <p:spPr>
          <a:xfrm>
            <a:off x="1104900" y="3167063"/>
            <a:ext cx="2151980"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Source</a:t>
            </a:r>
            <a:endParaRPr lang="en-US" sz="2250" dirty="0"/>
          </a:p>
        </p:txBody>
      </p:sp>
      <p:sp>
        <p:nvSpPr>
          <p:cNvPr id="16" name="Shape 14"/>
          <p:cNvSpPr/>
          <p:nvPr/>
        </p:nvSpPr>
        <p:spPr>
          <a:xfrm>
            <a:off x="3333080" y="3638550"/>
            <a:ext cx="5402982" cy="9525"/>
          </a:xfrm>
          <a:prstGeom prst="rect">
            <a:avLst/>
          </a:prstGeom>
          <a:solidFill>
            <a:srgbClr val="2A2F3A"/>
          </a:solidFill>
          <a:ln/>
        </p:spPr>
      </p:sp>
      <p:sp>
        <p:nvSpPr>
          <p:cNvPr id="17" name="Text 15"/>
          <p:cNvSpPr/>
          <p:nvPr/>
        </p:nvSpPr>
        <p:spPr>
          <a:xfrm>
            <a:off x="3485480" y="3167063"/>
            <a:ext cx="5260271"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Typed by the user</a:t>
            </a:r>
            <a:endParaRPr lang="en-US" sz="2250" dirty="0"/>
          </a:p>
        </p:txBody>
      </p:sp>
      <p:sp>
        <p:nvSpPr>
          <p:cNvPr id="18" name="Shape 16"/>
          <p:cNvSpPr/>
          <p:nvPr/>
        </p:nvSpPr>
        <p:spPr>
          <a:xfrm>
            <a:off x="8736062" y="3638550"/>
            <a:ext cx="8599438" cy="9525"/>
          </a:xfrm>
          <a:prstGeom prst="rect">
            <a:avLst/>
          </a:prstGeom>
          <a:solidFill>
            <a:srgbClr val="2A2F3A"/>
          </a:solidFill>
          <a:ln/>
        </p:spPr>
      </p:sp>
      <p:sp>
        <p:nvSpPr>
          <p:cNvPr id="19" name="Text 17"/>
          <p:cNvSpPr/>
          <p:nvPr/>
        </p:nvSpPr>
        <p:spPr>
          <a:xfrm>
            <a:off x="8888462" y="3167063"/>
            <a:ext cx="8552621"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Embedded in retrieved content</a:t>
            </a:r>
            <a:endParaRPr lang="en-US" sz="2250" dirty="0"/>
          </a:p>
        </p:txBody>
      </p:sp>
      <p:sp>
        <p:nvSpPr>
          <p:cNvPr id="20" name="Shape 18"/>
          <p:cNvSpPr/>
          <p:nvPr/>
        </p:nvSpPr>
        <p:spPr>
          <a:xfrm>
            <a:off x="952500" y="3648075"/>
            <a:ext cx="2380580" cy="614363"/>
          </a:xfrm>
          <a:prstGeom prst="rect">
            <a:avLst/>
          </a:prstGeom>
          <a:solidFill>
            <a:srgbClr val="FFFFFF">
              <a:alpha val="2000"/>
            </a:srgbClr>
          </a:solidFill>
          <a:ln/>
        </p:spPr>
      </p:sp>
      <p:sp>
        <p:nvSpPr>
          <p:cNvPr id="21" name="Shape 19"/>
          <p:cNvSpPr/>
          <p:nvPr/>
        </p:nvSpPr>
        <p:spPr>
          <a:xfrm>
            <a:off x="952500" y="4252913"/>
            <a:ext cx="2380580" cy="9525"/>
          </a:xfrm>
          <a:prstGeom prst="rect">
            <a:avLst/>
          </a:prstGeom>
          <a:solidFill>
            <a:srgbClr val="2A2F3A"/>
          </a:solidFill>
          <a:ln/>
        </p:spPr>
      </p:sp>
      <p:sp>
        <p:nvSpPr>
          <p:cNvPr id="22" name="Text 20"/>
          <p:cNvSpPr/>
          <p:nvPr/>
        </p:nvSpPr>
        <p:spPr>
          <a:xfrm>
            <a:off x="1104900" y="3781425"/>
            <a:ext cx="2151980"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Visibility</a:t>
            </a:r>
            <a:endParaRPr lang="en-US" sz="2250" dirty="0"/>
          </a:p>
        </p:txBody>
      </p:sp>
      <p:sp>
        <p:nvSpPr>
          <p:cNvPr id="23" name="Shape 21"/>
          <p:cNvSpPr/>
          <p:nvPr/>
        </p:nvSpPr>
        <p:spPr>
          <a:xfrm>
            <a:off x="3333080" y="3648075"/>
            <a:ext cx="5402982" cy="614363"/>
          </a:xfrm>
          <a:prstGeom prst="rect">
            <a:avLst/>
          </a:prstGeom>
          <a:solidFill>
            <a:srgbClr val="FFFFFF">
              <a:alpha val="2000"/>
            </a:srgbClr>
          </a:solidFill>
          <a:ln/>
        </p:spPr>
      </p:sp>
      <p:sp>
        <p:nvSpPr>
          <p:cNvPr id="24" name="Shape 22"/>
          <p:cNvSpPr/>
          <p:nvPr/>
        </p:nvSpPr>
        <p:spPr>
          <a:xfrm>
            <a:off x="3333080" y="4252913"/>
            <a:ext cx="5402982" cy="9525"/>
          </a:xfrm>
          <a:prstGeom prst="rect">
            <a:avLst/>
          </a:prstGeom>
          <a:solidFill>
            <a:srgbClr val="2A2F3A"/>
          </a:solidFill>
          <a:ln/>
        </p:spPr>
      </p:sp>
      <p:sp>
        <p:nvSpPr>
          <p:cNvPr id="25" name="Text 23"/>
          <p:cNvSpPr/>
          <p:nvPr/>
        </p:nvSpPr>
        <p:spPr>
          <a:xfrm>
            <a:off x="3485480" y="3781425"/>
            <a:ext cx="5260271"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Visible in the conversation</a:t>
            </a:r>
            <a:endParaRPr lang="en-US" sz="2250" dirty="0"/>
          </a:p>
        </p:txBody>
      </p:sp>
      <p:sp>
        <p:nvSpPr>
          <p:cNvPr id="26" name="Shape 24"/>
          <p:cNvSpPr/>
          <p:nvPr/>
        </p:nvSpPr>
        <p:spPr>
          <a:xfrm>
            <a:off x="8736062" y="3648075"/>
            <a:ext cx="8599438" cy="614363"/>
          </a:xfrm>
          <a:prstGeom prst="rect">
            <a:avLst/>
          </a:prstGeom>
          <a:solidFill>
            <a:srgbClr val="FFFFFF">
              <a:alpha val="2000"/>
            </a:srgbClr>
          </a:solidFill>
          <a:ln/>
        </p:spPr>
      </p:sp>
      <p:sp>
        <p:nvSpPr>
          <p:cNvPr id="27" name="Shape 25"/>
          <p:cNvSpPr/>
          <p:nvPr/>
        </p:nvSpPr>
        <p:spPr>
          <a:xfrm>
            <a:off x="8736062" y="4252913"/>
            <a:ext cx="8599438" cy="9525"/>
          </a:xfrm>
          <a:prstGeom prst="rect">
            <a:avLst/>
          </a:prstGeom>
          <a:solidFill>
            <a:srgbClr val="2A2F3A"/>
          </a:solidFill>
          <a:ln/>
        </p:spPr>
      </p:sp>
      <p:sp>
        <p:nvSpPr>
          <p:cNvPr id="28" name="Text 26"/>
          <p:cNvSpPr/>
          <p:nvPr/>
        </p:nvSpPr>
        <p:spPr>
          <a:xfrm>
            <a:off x="8888462" y="3781425"/>
            <a:ext cx="8552621"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Hidden inside a document or page</a:t>
            </a:r>
            <a:endParaRPr lang="en-US" sz="2250" dirty="0"/>
          </a:p>
        </p:txBody>
      </p:sp>
      <p:sp>
        <p:nvSpPr>
          <p:cNvPr id="29" name="Shape 27"/>
          <p:cNvSpPr/>
          <p:nvPr/>
        </p:nvSpPr>
        <p:spPr>
          <a:xfrm>
            <a:off x="952500" y="4867275"/>
            <a:ext cx="2380580" cy="9525"/>
          </a:xfrm>
          <a:prstGeom prst="rect">
            <a:avLst/>
          </a:prstGeom>
          <a:solidFill>
            <a:srgbClr val="2A2F3A"/>
          </a:solidFill>
          <a:ln/>
        </p:spPr>
      </p:sp>
      <p:sp>
        <p:nvSpPr>
          <p:cNvPr id="30" name="Text 28"/>
          <p:cNvSpPr/>
          <p:nvPr/>
        </p:nvSpPr>
        <p:spPr>
          <a:xfrm>
            <a:off x="1104900" y="4395787"/>
            <a:ext cx="2151980"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Attacker</a:t>
            </a:r>
            <a:endParaRPr lang="en-US" sz="2250" dirty="0"/>
          </a:p>
        </p:txBody>
      </p:sp>
      <p:sp>
        <p:nvSpPr>
          <p:cNvPr id="31" name="Shape 29"/>
          <p:cNvSpPr/>
          <p:nvPr/>
        </p:nvSpPr>
        <p:spPr>
          <a:xfrm>
            <a:off x="3333080" y="4867275"/>
            <a:ext cx="5402982" cy="9525"/>
          </a:xfrm>
          <a:prstGeom prst="rect">
            <a:avLst/>
          </a:prstGeom>
          <a:solidFill>
            <a:srgbClr val="2A2F3A"/>
          </a:solidFill>
          <a:ln/>
        </p:spPr>
      </p:sp>
      <p:sp>
        <p:nvSpPr>
          <p:cNvPr id="32" name="Text 30"/>
          <p:cNvSpPr/>
          <p:nvPr/>
        </p:nvSpPr>
        <p:spPr>
          <a:xfrm>
            <a:off x="3485480" y="4395787"/>
            <a:ext cx="5260271"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The end user themself</a:t>
            </a:r>
            <a:endParaRPr lang="en-US" sz="2250" dirty="0"/>
          </a:p>
        </p:txBody>
      </p:sp>
      <p:sp>
        <p:nvSpPr>
          <p:cNvPr id="33" name="Shape 31"/>
          <p:cNvSpPr/>
          <p:nvPr/>
        </p:nvSpPr>
        <p:spPr>
          <a:xfrm>
            <a:off x="8736062" y="4867275"/>
            <a:ext cx="8599438" cy="9525"/>
          </a:xfrm>
          <a:prstGeom prst="rect">
            <a:avLst/>
          </a:prstGeom>
          <a:solidFill>
            <a:srgbClr val="2A2F3A"/>
          </a:solidFill>
          <a:ln/>
        </p:spPr>
      </p:sp>
      <p:sp>
        <p:nvSpPr>
          <p:cNvPr id="34" name="Text 32"/>
          <p:cNvSpPr/>
          <p:nvPr/>
        </p:nvSpPr>
        <p:spPr>
          <a:xfrm>
            <a:off x="8888462" y="4395787"/>
            <a:ext cx="8552621" cy="376238"/>
          </a:xfrm>
          <a:prstGeom prst="rect">
            <a:avLst/>
          </a:prstGeom>
          <a:noFill/>
          <a:ln/>
        </p:spPr>
        <p:txBody>
          <a:bodyPr wrap="square" lIns="25400" tIns="25400" rIns="25400" bIns="25400" rtlCol="0" anchor="ctr">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A third party who controls retrieved content</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2</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Instruction Override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An attempt to convince the model to disregard its system prompt, e.g. "ignore all previous instructions and…" — testing whether instruction hierarchy actually holds.</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3</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Role Confusion</a:t>
            </a:r>
            <a:endParaRPr lang="en-US" sz="4800" dirty="0"/>
          </a:p>
        </p:txBody>
      </p:sp>
      <p:sp>
        <p:nvSpPr>
          <p:cNvPr id="5" name="Shape 3"/>
          <p:cNvSpPr/>
          <p:nvPr/>
        </p:nvSpPr>
        <p:spPr>
          <a:xfrm>
            <a:off x="952500" y="2438400"/>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2752725"/>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The attacker persuades the model to adopt a different persona or role that is not bound by its original system prompt constraints.</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4</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System Prompt Leakage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The model is tricked into revealing its own system prompt, exposing internal logic, business rules, or sensitive configuration to the attacker.</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5</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Jailbreak Attempts</a:t>
            </a:r>
            <a:endParaRPr lang="en-US" sz="4800" dirty="0"/>
          </a:p>
        </p:txBody>
      </p:sp>
      <p:sp>
        <p:nvSpPr>
          <p:cNvPr id="5" name="Shape 3"/>
          <p:cNvSpPr/>
          <p:nvPr/>
        </p:nvSpPr>
        <p:spPr>
          <a:xfrm>
            <a:off x="952500" y="2438400"/>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2752725"/>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Layered or creative prompting techniques designed to bypass a model's safety training or content restrictions altogether.</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6</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Prompt Boundary Failure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Occurs when the model fails to keep untrusted input (user or retrieved) separated from trusted system instructions within the shared context window.</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7</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Why Prompt-Only Defences Are Weak</a:t>
            </a:r>
            <a:endParaRPr lang="en-US" sz="4800" dirty="0"/>
          </a:p>
        </p:txBody>
      </p:sp>
      <p:sp>
        <p:nvSpPr>
          <p:cNvPr id="5" name="Shape 3"/>
          <p:cNvSpPr/>
          <p:nvPr/>
        </p:nvSpPr>
        <p:spPr>
          <a:xfrm>
            <a:off x="952500" y="2438400"/>
            <a:ext cx="16383000" cy="966788"/>
          </a:xfrm>
          <a:prstGeom prst="roundRect">
            <a:avLst>
              <a:gd name="adj" fmla="val 15764"/>
            </a:avLst>
          </a:prstGeom>
          <a:solidFill>
            <a:srgbClr val="FFFFFF">
              <a:alpha val="2000"/>
            </a:srgbClr>
          </a:solidFill>
          <a:ln w="9525">
            <a:solidFill>
              <a:srgbClr val="2A2F3A"/>
            </a:solidFill>
            <a:prstDash val="solid"/>
          </a:ln>
        </p:spPr>
      </p:sp>
      <p:sp>
        <p:nvSpPr>
          <p:cNvPr id="6" name="Text 4"/>
          <p:cNvSpPr/>
          <p:nvPr/>
        </p:nvSpPr>
        <p:spPr>
          <a:xfrm>
            <a:off x="1266825" y="2752725"/>
            <a:ext cx="16245840"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Instructions like "never reveal your system prompt" are advisory, not enforced</a:t>
            </a:r>
            <a:endParaRPr lang="en-US" sz="2250" dirty="0"/>
          </a:p>
        </p:txBody>
      </p:sp>
      <p:sp>
        <p:nvSpPr>
          <p:cNvPr id="7" name="Shape 5"/>
          <p:cNvSpPr/>
          <p:nvPr/>
        </p:nvSpPr>
        <p:spPr>
          <a:xfrm>
            <a:off x="952500" y="3633788"/>
            <a:ext cx="16383000" cy="966788"/>
          </a:xfrm>
          <a:prstGeom prst="roundRect">
            <a:avLst>
              <a:gd name="adj" fmla="val 15764"/>
            </a:avLst>
          </a:prstGeom>
          <a:solidFill>
            <a:srgbClr val="FFFFFF">
              <a:alpha val="2000"/>
            </a:srgbClr>
          </a:solidFill>
          <a:ln w="9525">
            <a:solidFill>
              <a:srgbClr val="2A2F3A"/>
            </a:solidFill>
            <a:prstDash val="solid"/>
          </a:ln>
        </p:spPr>
      </p:sp>
      <p:sp>
        <p:nvSpPr>
          <p:cNvPr id="8" name="Text 6"/>
          <p:cNvSpPr/>
          <p:nvPr/>
        </p:nvSpPr>
        <p:spPr>
          <a:xfrm>
            <a:off x="1266825" y="3948113"/>
            <a:ext cx="16245840"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Attackers can iterate creatively until a phrasing bypasses the guidance</a:t>
            </a:r>
            <a:endParaRPr lang="en-US" sz="2250" dirty="0"/>
          </a:p>
        </p:txBody>
      </p:sp>
      <p:sp>
        <p:nvSpPr>
          <p:cNvPr id="9" name="Shape 7"/>
          <p:cNvSpPr/>
          <p:nvPr/>
        </p:nvSpPr>
        <p:spPr>
          <a:xfrm>
            <a:off x="952500" y="4829175"/>
            <a:ext cx="16383000" cy="966788"/>
          </a:xfrm>
          <a:prstGeom prst="roundRect">
            <a:avLst>
              <a:gd name="adj" fmla="val 15764"/>
            </a:avLst>
          </a:prstGeom>
          <a:solidFill>
            <a:srgbClr val="FFFFFF">
              <a:alpha val="2000"/>
            </a:srgbClr>
          </a:solidFill>
          <a:ln w="9525">
            <a:solidFill>
              <a:srgbClr val="2A2F3A"/>
            </a:solidFill>
            <a:prstDash val="solid"/>
          </a:ln>
        </p:spPr>
      </p:sp>
      <p:sp>
        <p:nvSpPr>
          <p:cNvPr id="10" name="Text 8"/>
          <p:cNvSpPr/>
          <p:nvPr/>
        </p:nvSpPr>
        <p:spPr>
          <a:xfrm>
            <a:off x="1266825" y="5143500"/>
            <a:ext cx="16245840"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Defensive prompting must be paired with architectural and output-layer controls</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8</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Defensive Prompting Limitations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Defensive prompting reduces but does not eliminate risk. It should be treated as one layer within a broader set of controls, not a standalone fix.</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 · LAB: PROMPT INJECTION FUNDAMENTALS</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Testing an AI Application for Prompt Injection</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Within agreed scope, attempt direct and indirect injection techniques against a target application and record which attempts succeed.</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Identifying Weak Instruction Hierarchy</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Assess whether the application enforces any priority between system instructions and user input, or treats all text in the context window equally.</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Attempting a Controlled Bypass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Within the safe testing plan from Module 2, attempt a supervised bypass of system instructions and document exactly what worked and why.</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Explaining Impact and Mitigation</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For each successful injection, state the realistic business impact and recommend layered mitigations: input handling, output validation, and monitoring.</a:t>
            </a:r>
            <a:endParaRPr lang="en-US" sz="2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4291013"/>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LAB ALIGNMENT</a:t>
            </a:r>
            <a:endParaRPr lang="en-US" sz="1950" dirty="0"/>
          </a:p>
        </p:txBody>
      </p:sp>
      <p:sp>
        <p:nvSpPr>
          <p:cNvPr id="4" name="Text 2"/>
          <p:cNvSpPr/>
          <p:nvPr/>
        </p:nvSpPr>
        <p:spPr>
          <a:xfrm>
            <a:off x="952500" y="4733925"/>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Prompt Injection Fundamentals</a:t>
            </a:r>
            <a:endParaRPr lang="en-US" sz="4800" dirty="0"/>
          </a:p>
        </p:txBody>
      </p:sp>
      <p:sp>
        <p:nvSpPr>
          <p:cNvPr id="5" name="Text 3"/>
          <p:cNvSpPr/>
          <p:nvPr/>
        </p:nvSpPr>
        <p:spPr>
          <a:xfrm>
            <a:off x="952500" y="5643563"/>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Existing lab · Easy difficulty · Syllabus area: Prompt Injection</a:t>
            </a:r>
            <a:endParaRPr lang="en-US"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175867" y="3793331"/>
            <a:ext cx="3936266" cy="328613"/>
          </a:xfrm>
          <a:prstGeom prst="rect">
            <a:avLst/>
          </a:prstGeom>
          <a:noFill/>
          <a:ln/>
        </p:spPr>
        <p:txBody>
          <a:bodyPr wrap="square" lIns="25400" tIns="25400" rIns="25400" bIns="25400" rtlCol="0" anchor="t">
            <a:normAutofit/>
          </a:bodyPr>
          <a:lstStyle/>
          <a:p>
            <a:pPr algn="ctr" indent="0" marL="0">
              <a:buNone/>
            </a:pPr>
            <a:r>
              <a:rPr lang="en-US" sz="1950" b="1" spc="150" kern="0" dirty="0">
                <a:solidFill>
                  <a:srgbClr val="FF6A00"/>
                </a:solidFill>
                <a:latin typeface="Arial" pitchFamily="34" charset="0"/>
                <a:ea typeface="Arial" pitchFamily="34" charset="-122"/>
                <a:cs typeface="Arial" pitchFamily="34" charset="-120"/>
              </a:rPr>
              <a:t>ASSESSMENT WEIGHTING</a:t>
            </a:r>
            <a:endParaRPr lang="en-US" sz="1950" dirty="0"/>
          </a:p>
        </p:txBody>
      </p:sp>
      <p:sp>
        <p:nvSpPr>
          <p:cNvPr id="4" name="Text 2"/>
          <p:cNvSpPr/>
          <p:nvPr/>
        </p:nvSpPr>
        <p:spPr>
          <a:xfrm>
            <a:off x="7185280" y="4274344"/>
            <a:ext cx="3917439" cy="1752600"/>
          </a:xfrm>
          <a:prstGeom prst="rect">
            <a:avLst/>
          </a:prstGeom>
          <a:noFill/>
          <a:ln/>
        </p:spPr>
        <p:txBody>
          <a:bodyPr wrap="square" lIns="25400" tIns="25400" rIns="25400" bIns="25400" rtlCol="0" anchor="t">
            <a:normAutofit/>
          </a:bodyPr>
          <a:lstStyle/>
          <a:p>
            <a:pPr algn="ctr" indent="0" marL="0">
              <a:lnSpc>
                <a:spcPct val="86957"/>
              </a:lnSpc>
              <a:buNone/>
            </a:pPr>
            <a:r>
              <a:rPr lang="en-US" sz="13500" b="1" dirty="0">
                <a:solidFill>
                  <a:srgbClr val="FF6A00"/>
                </a:solidFill>
                <a:latin typeface="Arial" pitchFamily="34" charset="0"/>
                <a:ea typeface="Arial" pitchFamily="34" charset="-122"/>
                <a:cs typeface="Arial" pitchFamily="34" charset="-120"/>
              </a:rPr>
              <a:t>12%</a:t>
            </a:r>
            <a:endParaRPr lang="en-US" sz="13500" dirty="0"/>
          </a:p>
        </p:txBody>
      </p:sp>
      <p:sp>
        <p:nvSpPr>
          <p:cNvPr id="5" name="Text 3"/>
          <p:cNvSpPr/>
          <p:nvPr/>
        </p:nvSpPr>
        <p:spPr>
          <a:xfrm>
            <a:off x="5450272" y="6141244"/>
            <a:ext cx="7387456" cy="485775"/>
          </a:xfrm>
          <a:prstGeom prst="rect">
            <a:avLst/>
          </a:prstGeom>
          <a:noFill/>
          <a:ln/>
        </p:spPr>
        <p:txBody>
          <a:bodyPr wrap="square" lIns="25400" tIns="25400" rIns="25400" bIns="25400" rtlCol="0" anchor="t">
            <a:normAutofit/>
          </a:bodyPr>
          <a:lstStyle/>
          <a:p>
            <a:pPr algn="ctr" indent="0" marL="0">
              <a:buNone/>
            </a:pPr>
            <a:r>
              <a:rPr lang="en-US" sz="3000" dirty="0">
                <a:solidFill>
                  <a:srgbClr val="B8C0CF"/>
                </a:solidFill>
                <a:latin typeface="Arial" pitchFamily="34" charset="0"/>
                <a:ea typeface="Arial" pitchFamily="34" charset="-122"/>
                <a:cs typeface="Arial" pitchFamily="34" charset="-120"/>
              </a:rPr>
              <a:t>of the AI Security Practitioner certification</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KNOWLEDGE CHECK</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Quick Question</a:t>
            </a:r>
            <a:endParaRPr lang="en-US" sz="4800" dirty="0"/>
          </a:p>
        </p:txBody>
      </p:sp>
      <p:sp>
        <p:nvSpPr>
          <p:cNvPr id="5" name="Shape 3"/>
          <p:cNvSpPr/>
          <p:nvPr/>
        </p:nvSpPr>
        <p:spPr>
          <a:xfrm>
            <a:off x="952500" y="2362200"/>
            <a:ext cx="16383000" cy="3371850"/>
          </a:xfrm>
          <a:prstGeom prst="roundRect">
            <a:avLst>
              <a:gd name="adj" fmla="val 4520"/>
            </a:avLst>
          </a:prstGeom>
          <a:solidFill>
            <a:srgbClr val="FFFFFF">
              <a:alpha val="2000"/>
            </a:srgbClr>
          </a:solidFill>
          <a:ln w="9525">
            <a:solidFill>
              <a:srgbClr val="2A2F3A"/>
            </a:solidFill>
            <a:prstDash val="solid"/>
          </a:ln>
        </p:spPr>
      </p:sp>
      <p:sp>
        <p:nvSpPr>
          <p:cNvPr id="6" name="Text 4"/>
          <p:cNvSpPr/>
          <p:nvPr/>
        </p:nvSpPr>
        <p:spPr>
          <a:xfrm>
            <a:off x="1266825" y="2676525"/>
            <a:ext cx="16245840" cy="2781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F5F7FB"/>
                </a:solidFill>
                <a:highlight>
                  <a:srgbClr val="FFFFFF"/>
                </a:highlight>
                <a:latin typeface="Arial" pitchFamily="34" charset="0"/>
                <a:ea typeface="Arial" pitchFamily="34" charset="-122"/>
                <a:cs typeface="Arial" pitchFamily="34" charset="-120"/>
              </a:rPr>
              <a:t>What is the key difference between direct and indirect prompt injection? </a:t>
            </a:r>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 Direct injection is always encrypted B. Indirect injection arrives via retrieved content rather than being typed by the user C. There is no difference D. Indirect injection only affects image models</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SUMMARY</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Module 3 Summary</a:t>
            </a:r>
            <a:endParaRPr lang="en-US" sz="4800" dirty="0"/>
          </a:p>
        </p:txBody>
      </p:sp>
      <p:sp>
        <p:nvSpPr>
          <p:cNvPr id="5" name="Shape 3"/>
          <p:cNvSpPr/>
          <p:nvPr/>
        </p:nvSpPr>
        <p:spPr>
          <a:xfrm>
            <a:off x="952500" y="2400300"/>
            <a:ext cx="16383000" cy="942975"/>
          </a:xfrm>
          <a:prstGeom prst="roundRect">
            <a:avLst>
              <a:gd name="adj" fmla="val 16162"/>
            </a:avLst>
          </a:prstGeom>
          <a:solidFill>
            <a:srgbClr val="FFFFFF">
              <a:alpha val="2000"/>
            </a:srgbClr>
          </a:solidFill>
          <a:ln w="9525">
            <a:solidFill>
              <a:srgbClr val="2A2F3A"/>
            </a:solidFill>
            <a:prstDash val="solid"/>
          </a:ln>
        </p:spPr>
      </p:sp>
      <p:sp>
        <p:nvSpPr>
          <p:cNvPr id="6" name="Text 4"/>
          <p:cNvSpPr/>
          <p:nvPr/>
        </p:nvSpPr>
        <p:spPr>
          <a:xfrm>
            <a:off x="1266825" y="2714625"/>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Prompt injection can be direct (user-typed) or indirect (via retrieved content)</a:t>
            </a:r>
            <a:endParaRPr lang="en-US" sz="2100" dirty="0"/>
          </a:p>
        </p:txBody>
      </p:sp>
      <p:sp>
        <p:nvSpPr>
          <p:cNvPr id="7" name="Shape 5"/>
          <p:cNvSpPr/>
          <p:nvPr/>
        </p:nvSpPr>
        <p:spPr>
          <a:xfrm>
            <a:off x="952500" y="3571875"/>
            <a:ext cx="16383000" cy="942975"/>
          </a:xfrm>
          <a:prstGeom prst="roundRect">
            <a:avLst>
              <a:gd name="adj" fmla="val 16162"/>
            </a:avLst>
          </a:prstGeom>
          <a:solidFill>
            <a:srgbClr val="FFFFFF">
              <a:alpha val="2000"/>
            </a:srgbClr>
          </a:solidFill>
          <a:ln w="9525">
            <a:solidFill>
              <a:srgbClr val="2A2F3A"/>
            </a:solidFill>
            <a:prstDash val="solid"/>
          </a:ln>
        </p:spPr>
      </p:sp>
      <p:sp>
        <p:nvSpPr>
          <p:cNvPr id="8" name="Text 6"/>
          <p:cNvSpPr/>
          <p:nvPr/>
        </p:nvSpPr>
        <p:spPr>
          <a:xfrm>
            <a:off x="1266825" y="3886200"/>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Role confusion, system prompt leakage, and jailbreaks are related techniques</a:t>
            </a:r>
            <a:endParaRPr lang="en-US" sz="2100" dirty="0"/>
          </a:p>
        </p:txBody>
      </p:sp>
      <p:sp>
        <p:nvSpPr>
          <p:cNvPr id="9" name="Shape 7"/>
          <p:cNvSpPr/>
          <p:nvPr/>
        </p:nvSpPr>
        <p:spPr>
          <a:xfrm>
            <a:off x="952500" y="4743450"/>
            <a:ext cx="16383000" cy="942975"/>
          </a:xfrm>
          <a:prstGeom prst="roundRect">
            <a:avLst>
              <a:gd name="adj" fmla="val 16162"/>
            </a:avLst>
          </a:prstGeom>
          <a:solidFill>
            <a:srgbClr val="FFFFFF">
              <a:alpha val="2000"/>
            </a:srgbClr>
          </a:solidFill>
          <a:ln w="9525">
            <a:solidFill>
              <a:srgbClr val="2A2F3A"/>
            </a:solidFill>
            <a:prstDash val="solid"/>
          </a:ln>
        </p:spPr>
      </p:sp>
      <p:sp>
        <p:nvSpPr>
          <p:cNvPr id="10" name="Text 8"/>
          <p:cNvSpPr/>
          <p:nvPr/>
        </p:nvSpPr>
        <p:spPr>
          <a:xfrm>
            <a:off x="1266825" y="5057775"/>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Prompt-only defences are advisory and must be layered with other controls</a:t>
            </a:r>
            <a:endParaRPr lang="en-US" sz="2100" dirty="0"/>
          </a:p>
        </p:txBody>
      </p:sp>
      <p:sp>
        <p:nvSpPr>
          <p:cNvPr id="11" name="Shape 9"/>
          <p:cNvSpPr/>
          <p:nvPr/>
        </p:nvSpPr>
        <p:spPr>
          <a:xfrm>
            <a:off x="952500" y="5915025"/>
            <a:ext cx="16383000" cy="942975"/>
          </a:xfrm>
          <a:prstGeom prst="roundRect">
            <a:avLst>
              <a:gd name="adj" fmla="val 16162"/>
            </a:avLst>
          </a:prstGeom>
          <a:solidFill>
            <a:srgbClr val="FFFFFF">
              <a:alpha val="2000"/>
            </a:srgbClr>
          </a:solidFill>
          <a:ln w="9525">
            <a:solidFill>
              <a:srgbClr val="2A2F3A"/>
            </a:solidFill>
            <a:prstDash val="solid"/>
          </a:ln>
        </p:spPr>
      </p:sp>
      <p:sp>
        <p:nvSpPr>
          <p:cNvPr id="12" name="Text 10"/>
          <p:cNvSpPr/>
          <p:nvPr/>
        </p:nvSpPr>
        <p:spPr>
          <a:xfrm>
            <a:off x="1266825" y="6229350"/>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The Prompt Injection Fundamentals lab puts these techniques into practice</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875261"/>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NEXT</a:t>
            </a:r>
            <a:endParaRPr lang="en-US" sz="1950" dirty="0"/>
          </a:p>
        </p:txBody>
      </p:sp>
      <p:sp>
        <p:nvSpPr>
          <p:cNvPr id="4" name="Text 2"/>
          <p:cNvSpPr/>
          <p:nvPr/>
        </p:nvSpPr>
        <p:spPr>
          <a:xfrm>
            <a:off x="952500" y="4356274"/>
            <a:ext cx="1687449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Module 4: Context, Memory &amp; Sensitive Data Exposure</a:t>
            </a:r>
            <a:endParaRPr lang="en-US" sz="4800" dirty="0"/>
          </a:p>
        </p:txBody>
      </p:sp>
      <p:sp>
        <p:nvSpPr>
          <p:cNvPr id="5" name="Text 3"/>
          <p:cNvSpPr/>
          <p:nvPr/>
        </p:nvSpPr>
        <p:spPr>
          <a:xfrm>
            <a:off x="952500" y="5964064"/>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Complete the Module 3 PBQ, Flashcards, Cheat Sheet, and Quiz before continuing</a:t>
            </a:r>
            <a:endParaRPr lang="en-US" sz="3000" dirty="0"/>
          </a:p>
        </p:txBody>
      </p:sp>
      <p:sp>
        <p:nvSpPr>
          <p:cNvPr id="6" name="Text 4"/>
          <p:cNvSpPr/>
          <p:nvPr/>
        </p:nvSpPr>
        <p:spPr>
          <a:xfrm>
            <a:off x="952500" y="9696450"/>
            <a:ext cx="1956509"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891A1"/>
                </a:solidFill>
                <a:latin typeface="Arial" pitchFamily="34" charset="0"/>
                <a:ea typeface="Arial" pitchFamily="34" charset="-122"/>
                <a:cs typeface="Arial" pitchFamily="34" charset="-120"/>
              </a:rPr>
              <a:t>My Cyber Academy</a:t>
            </a:r>
            <a:endParaRPr lang="en-US" sz="1650" dirty="0"/>
          </a:p>
        </p:txBody>
      </p:sp>
      <p:sp>
        <p:nvSpPr>
          <p:cNvPr id="7" name="Text 5"/>
          <p:cNvSpPr/>
          <p:nvPr/>
        </p:nvSpPr>
        <p:spPr>
          <a:xfrm>
            <a:off x="15278174" y="9696450"/>
            <a:ext cx="2263058"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CYBER </a:t>
            </a:r>
            <a:pPr algn="l" indent="0" marL="0">
              <a:buNone/>
            </a:pPr>
            <a:r>
              <a:rPr lang="en-US" sz="1650" b="1" spc="150" kern="0" dirty="0">
                <a:solidFill>
                  <a:srgbClr val="8891A1"/>
                </a:solidFill>
                <a:latin typeface="Arial" pitchFamily="34" charset="0"/>
                <a:ea typeface="Arial" pitchFamily="34" charset="-122"/>
                <a:cs typeface="Arial" pitchFamily="34" charset="-120"/>
              </a:rPr>
              <a:t>ACADEMY</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2026-07-27T21:35:10Z</dcterms:created>
  <dcterms:modified xsi:type="dcterms:W3CDTF">2026-07-27T21:35:10Z</dcterms:modified>
</cp:coreProperties>
</file>