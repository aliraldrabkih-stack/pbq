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back. Module 2 builds directly on the architecture and trust boundaries from Module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objective; these map to the PBQ practical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recap architecture and trust boundaries before extending into threat modelling.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Assets include the model, prompts, data stores, tools, and credentials.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data flow live: input, processing, storage,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Apply the trust boundary concept from Module 1 to a full system diagram.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structured threat modelling applied to LLM applications specifically.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four-step process learners will apply in the PBQ.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a use case with an abuse case using a concrete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a simple likelihood x impact classification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table as a working reference during the practical exercise.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defining scope in writing before any testing begins.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responsible disclosure and duty of care around production AI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the PBQ task of building a basic threat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Practise tracing an attack path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learners draft scope statements for a given 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clear examples of acceptable vs unsafe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learners of assessment weighting to set revision priorities.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Pose this question aloud; reveal the answer after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eight topics and four practical skills before moving to Module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module and preview Module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3726656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SECURITY PRACTITIONER · MODULE 2 OF 10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4245769"/>
            <a:ext cx="16874490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304"/>
              </a:lnSpc>
              <a:buNone/>
            </a:pPr>
            <a:r>
              <a:rPr lang="en-US" sz="6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Threat Modelling &amp; Risk Scoping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52500" y="6112669"/>
            <a:ext cx="180213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Scoping and threat modelling AI-enabled applications before testing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52500" y="9696450"/>
            <a:ext cx="195650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278174" y="9696450"/>
            <a:ext cx="226305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</a:t>
            </a:r>
            <a:pPr algn="l" indent="0" marL="0">
              <a:buNone/>
            </a:pPr>
            <a:r>
              <a:rPr lang="en-US" sz="165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module, you will be able to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8058150" cy="966788"/>
          </a:xfrm>
          <a:prstGeom prst="roundRect">
            <a:avLst>
              <a:gd name="adj" fmla="val 15764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767124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basic AI system threat model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277350" y="2438400"/>
            <a:ext cx="8058150" cy="966788"/>
          </a:xfrm>
          <a:prstGeom prst="roundRect">
            <a:avLst>
              <a:gd name="adj" fmla="val 15764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91675" y="2752725"/>
            <a:ext cx="767124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likely attack paths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52500" y="3671888"/>
            <a:ext cx="8058150" cy="1304925"/>
          </a:xfrm>
          <a:prstGeom prst="roundRect">
            <a:avLst>
              <a:gd name="adj" fmla="val 1167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6825" y="3986213"/>
            <a:ext cx="7671244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a safe testing plan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277350" y="3671888"/>
            <a:ext cx="8058150" cy="1304925"/>
          </a:xfrm>
          <a:prstGeom prst="roundRect">
            <a:avLst>
              <a:gd name="adj" fmla="val 1167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91675" y="3986213"/>
            <a:ext cx="7671244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acceptable testing from unsafe or destructive testing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Architecture to Threat Modelling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mapped the components and trust boundaries of an AI-enabled application. Module 2 uses that map as the starting point for a formal threat model and a safe testing scope.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1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Asset Identification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3952875" cy="1533525"/>
          </a:xfrm>
          <a:prstGeom prst="roundRect">
            <a:avLst>
              <a:gd name="adj" fmla="val 993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365664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66825" y="3162300"/>
            <a:ext cx="365664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or ML model itself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095875" y="2438400"/>
            <a:ext cx="3952875" cy="1533525"/>
          </a:xfrm>
          <a:prstGeom prst="roundRect">
            <a:avLst>
              <a:gd name="adj" fmla="val 993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10200" y="2752725"/>
            <a:ext cx="365664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410200" y="3162300"/>
            <a:ext cx="342395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 and prompt templates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9239250" y="2438400"/>
            <a:ext cx="3952875" cy="1533525"/>
          </a:xfrm>
          <a:prstGeom prst="roundRect">
            <a:avLst>
              <a:gd name="adj" fmla="val 993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53575" y="2752725"/>
            <a:ext cx="365664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stores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553575" y="3162300"/>
            <a:ext cx="342395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stores, logs, conversation history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3382625" y="2438400"/>
            <a:ext cx="3952875" cy="1533525"/>
          </a:xfrm>
          <a:prstGeom prst="roundRect">
            <a:avLst>
              <a:gd name="adj" fmla="val 993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696950" y="2752725"/>
            <a:ext cx="365664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keys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696950" y="3162300"/>
            <a:ext cx="365664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APIs, plugins, credentials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2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Data Flow Mapping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76500"/>
            <a:ext cx="3522687" cy="942975"/>
          </a:xfrm>
          <a:prstGeom prst="roundRect">
            <a:avLst>
              <a:gd name="adj" fmla="val 1616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123" y="2790825"/>
            <a:ext cx="318344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665687" y="2476500"/>
            <a:ext cx="459284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5239271" y="2476500"/>
            <a:ext cx="3522687" cy="942975"/>
          </a:xfrm>
          <a:prstGeom prst="roundRect">
            <a:avLst>
              <a:gd name="adj" fmla="val 1616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08894" y="2790825"/>
            <a:ext cx="318344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952458" y="2476500"/>
            <a:ext cx="459284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9526042" y="2476500"/>
            <a:ext cx="3522687" cy="942975"/>
          </a:xfrm>
          <a:prstGeom prst="roundRect">
            <a:avLst>
              <a:gd name="adj" fmla="val 1616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5665" y="2790825"/>
            <a:ext cx="318344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239229" y="2476500"/>
            <a:ext cx="459284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13812813" y="2476500"/>
            <a:ext cx="3522687" cy="942975"/>
          </a:xfrm>
          <a:prstGeom prst="roundRect">
            <a:avLst>
              <a:gd name="adj" fmla="val 1616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982436" y="2790825"/>
            <a:ext cx="318344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52500" y="3686175"/>
            <a:ext cx="1802130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every hop where an asset is created, transmitted, or persisted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3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Boundary Mapping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 trust boundaries onto the asset and data-flow map: mark every point where user input, retrieved content, or tool output crosses into a more trusted context.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4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Modelling for LLM Applications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asset and trust boundary, ask: who could act as an attacker, what would they attempt, and what is the realistic impact if they succeed?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4 (CONT.)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Modelling Process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76500"/>
            <a:ext cx="3981450" cy="919162"/>
          </a:xfrm>
          <a:prstGeom prst="roundRect">
            <a:avLst>
              <a:gd name="adj" fmla="val 1658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9185" y="2790825"/>
            <a:ext cx="368808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Identify assets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5086350" y="2476500"/>
            <a:ext cx="3981450" cy="919162"/>
          </a:xfrm>
          <a:prstGeom prst="roundRect">
            <a:avLst>
              <a:gd name="adj" fmla="val 1658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3035" y="2790825"/>
            <a:ext cx="368808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Map data flow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220200" y="2476500"/>
            <a:ext cx="3981450" cy="919162"/>
          </a:xfrm>
          <a:prstGeom prst="roundRect">
            <a:avLst>
              <a:gd name="adj" fmla="val 1658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6885" y="2790825"/>
            <a:ext cx="368808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Mark boundaries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3354050" y="2476500"/>
            <a:ext cx="3981450" cy="919162"/>
          </a:xfrm>
          <a:prstGeom prst="roundRect">
            <a:avLst>
              <a:gd name="adj" fmla="val 1658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00735" y="2790825"/>
            <a:ext cx="368808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Enumerate abuse cases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5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Abuse Cases for AI Systems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00300"/>
            <a:ext cx="6113636" cy="63341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3024188"/>
            <a:ext cx="6113636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1104900" y="2533650"/>
            <a:ext cx="599224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066136" y="2400300"/>
            <a:ext cx="10269364" cy="63341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066136" y="3024188"/>
            <a:ext cx="10269364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7218536" y="2533650"/>
            <a:ext cx="1027264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Abuse Case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52500" y="3976687"/>
            <a:ext cx="6113636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2" name="Text 10"/>
          <p:cNvSpPr/>
          <p:nvPr/>
        </p:nvSpPr>
        <p:spPr>
          <a:xfrm>
            <a:off x="1104900" y="3167063"/>
            <a:ext cx="5992245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asks the assistant to summarise a document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7066136" y="3976687"/>
            <a:ext cx="10269364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4" name="Text 12"/>
          <p:cNvSpPr/>
          <p:nvPr/>
        </p:nvSpPr>
        <p:spPr>
          <a:xfrm>
            <a:off x="7218536" y="3167063"/>
            <a:ext cx="10272645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embeds hidden instructions in the document to hijack the assistant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52500" y="3986213"/>
            <a:ext cx="6113636" cy="9525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52500" y="4929188"/>
            <a:ext cx="6113636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7" name="Text 15"/>
          <p:cNvSpPr/>
          <p:nvPr/>
        </p:nvSpPr>
        <p:spPr>
          <a:xfrm>
            <a:off x="1104900" y="4119562"/>
            <a:ext cx="5992245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looks up order status via a tool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7066136" y="3986213"/>
            <a:ext cx="10269364" cy="9525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066136" y="4929188"/>
            <a:ext cx="10269364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0" name="Text 18"/>
          <p:cNvSpPr/>
          <p:nvPr/>
        </p:nvSpPr>
        <p:spPr>
          <a:xfrm>
            <a:off x="7218536" y="4119562"/>
            <a:ext cx="10272645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manipulates input to make the assistant call the tool with unintended parameters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6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Classification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085850"/>
          </a:xfrm>
          <a:prstGeom prst="roundRect">
            <a:avLst>
              <a:gd name="adj" fmla="val 1403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each identified threat by likelihood and impact to prioritise testing effort and reporting focus.</a:t>
            </a:r>
            <a:endParaRPr lang="en-US" sz="2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6 (CONT.)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Likelihood &amp; Impact Matrix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00300"/>
            <a:ext cx="4640684" cy="63341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3024188"/>
            <a:ext cx="4640684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1104900" y="2533650"/>
            <a:ext cx="447510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Likelihood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593184" y="2400300"/>
            <a:ext cx="5121027" cy="63341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593184" y="3024188"/>
            <a:ext cx="5121027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5745584" y="2533650"/>
            <a:ext cx="496985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Impact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714211" y="2400300"/>
            <a:ext cx="6621289" cy="63341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714211" y="3024188"/>
            <a:ext cx="6621289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3" name="Text 11"/>
          <p:cNvSpPr/>
          <p:nvPr/>
        </p:nvSpPr>
        <p:spPr>
          <a:xfrm>
            <a:off x="10866611" y="2533650"/>
            <a:ext cx="651512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Impact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52500" y="3638550"/>
            <a:ext cx="4640684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4900" y="3167063"/>
            <a:ext cx="447510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5593184" y="3638550"/>
            <a:ext cx="5121027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7" name="Text 15"/>
          <p:cNvSpPr/>
          <p:nvPr/>
        </p:nvSpPr>
        <p:spPr>
          <a:xfrm>
            <a:off x="5745584" y="3167063"/>
            <a:ext cx="496985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priority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0714211" y="3638550"/>
            <a:ext cx="6621289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9" name="Text 17"/>
          <p:cNvSpPr/>
          <p:nvPr/>
        </p:nvSpPr>
        <p:spPr>
          <a:xfrm>
            <a:off x="10866611" y="3167063"/>
            <a:ext cx="651512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52500" y="3648075"/>
            <a:ext cx="4640684" cy="61436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52500" y="4252913"/>
            <a:ext cx="4640684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2" name="Text 20"/>
          <p:cNvSpPr/>
          <p:nvPr/>
        </p:nvSpPr>
        <p:spPr>
          <a:xfrm>
            <a:off x="1104900" y="3781425"/>
            <a:ext cx="447510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5593184" y="3648075"/>
            <a:ext cx="5121027" cy="61436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593184" y="4252913"/>
            <a:ext cx="5121027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5" name="Text 23"/>
          <p:cNvSpPr/>
          <p:nvPr/>
        </p:nvSpPr>
        <p:spPr>
          <a:xfrm>
            <a:off x="5745584" y="3781425"/>
            <a:ext cx="496985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10714211" y="3648075"/>
            <a:ext cx="6621289" cy="61436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714211" y="4252913"/>
            <a:ext cx="6621289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8" name="Text 26"/>
          <p:cNvSpPr/>
          <p:nvPr/>
        </p:nvSpPr>
        <p:spPr>
          <a:xfrm>
            <a:off x="10866611" y="3781425"/>
            <a:ext cx="651512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priority</a:t>
            </a:r>
            <a:endParaRPr lang="en-US" sz="2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7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Testing Boundaries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085850"/>
          </a:xfrm>
          <a:prstGeom prst="roundRect">
            <a:avLst>
              <a:gd name="adj" fmla="val 1403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what is in scope, what data may be used, and what actions are explicitly forbidden — before any testing begins.</a:t>
            </a:r>
            <a:endParaRPr lang="en-US" sz="2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8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Considerations in AI Security Testing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966788"/>
          </a:xfrm>
          <a:prstGeom prst="roundRect">
            <a:avLst>
              <a:gd name="adj" fmla="val 15764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test against real user data without authorisation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52500" y="3633788"/>
            <a:ext cx="16383000" cy="966788"/>
          </a:xfrm>
          <a:prstGeom prst="roundRect">
            <a:avLst>
              <a:gd name="adj" fmla="val 15764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6825" y="3948113"/>
            <a:ext cx="1624584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actions that could cause real-world harm or destructive change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52500" y="4829175"/>
            <a:ext cx="16383000" cy="966788"/>
          </a:xfrm>
          <a:prstGeom prst="roundRect">
            <a:avLst>
              <a:gd name="adj" fmla="val 15764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6825" y="5143500"/>
            <a:ext cx="1624584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findings responsibly and proportionately</a:t>
            </a:r>
            <a:endParaRPr lang="en-US" sz="2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 Basic AI System Threat Model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085850"/>
          </a:xfrm>
          <a:prstGeom prst="roundRect">
            <a:avLst>
              <a:gd name="adj" fmla="val 1403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an application description, identify its assets, data flow, and trust boundaries, then enumerate plausible abuse cases.</a:t>
            </a:r>
            <a:endParaRPr lang="en-US" sz="2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Likely Attack Paths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a path from an untrusted entry point, across a trust boundary, to a high-value asset — noting every control that should stop it.</a:t>
            </a:r>
            <a:endParaRPr lang="en-US" sz="2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a Safe Testing Plan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085850"/>
          </a:xfrm>
          <a:prstGeom prst="roundRect">
            <a:avLst>
              <a:gd name="adj" fmla="val 1403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scope, permitted actions, data handling rules, and escalation contacts before testing an AI-enabled application.</a:t>
            </a:r>
            <a:endParaRPr lang="en-US" sz="2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Acceptable vs Unsafe Testing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00300"/>
            <a:ext cx="7731547" cy="63341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3024188"/>
            <a:ext cx="7731547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1104900" y="2533650"/>
            <a:ext cx="765869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Acceptable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684047" y="2400300"/>
            <a:ext cx="8651453" cy="63341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684047" y="3024188"/>
            <a:ext cx="8651453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8836447" y="2533650"/>
            <a:ext cx="860619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 / Out of Scope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52500" y="3638550"/>
            <a:ext cx="7731547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2" name="Text 10"/>
          <p:cNvSpPr/>
          <p:nvPr/>
        </p:nvSpPr>
        <p:spPr>
          <a:xfrm>
            <a:off x="1104900" y="3167063"/>
            <a:ext cx="765869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Probing with synthetic test accounts and data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8684047" y="3638550"/>
            <a:ext cx="8651453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4" name="Text 12"/>
          <p:cNvSpPr/>
          <p:nvPr/>
        </p:nvSpPr>
        <p:spPr>
          <a:xfrm>
            <a:off x="8836447" y="3167063"/>
            <a:ext cx="860619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against live production customer data without authorisation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52500" y="3648075"/>
            <a:ext cx="7731547" cy="61436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52500" y="4252913"/>
            <a:ext cx="7731547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7" name="Text 15"/>
          <p:cNvSpPr/>
          <p:nvPr/>
        </p:nvSpPr>
        <p:spPr>
          <a:xfrm>
            <a:off x="1104900" y="3781425"/>
            <a:ext cx="765869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Attempting a controlled prompt bypass within agreed scope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8684047" y="3648075"/>
            <a:ext cx="8651453" cy="61436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684047" y="4252913"/>
            <a:ext cx="8651453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0" name="Text 18"/>
          <p:cNvSpPr/>
          <p:nvPr/>
        </p:nvSpPr>
        <p:spPr>
          <a:xfrm>
            <a:off x="8836447" y="3781425"/>
            <a:ext cx="860619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that could delete, corrupt, or exfiltrate real data</a:t>
            </a:r>
            <a:endParaRPr lang="en-US" sz="2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175867" y="3793331"/>
            <a:ext cx="393626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WEIGHTING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128149" y="4274344"/>
            <a:ext cx="4031627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957"/>
              </a:lnSpc>
              <a:buNone/>
            </a:pPr>
            <a:r>
              <a:rPr lang="en-US" sz="135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5450272" y="6141244"/>
            <a:ext cx="7387456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AI Security Practitioner certification</a:t>
            </a:r>
            <a:endParaRPr lang="en-US" sz="3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Question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362200"/>
            <a:ext cx="16383000" cy="3371850"/>
          </a:xfrm>
          <a:prstGeom prst="roundRect">
            <a:avLst>
              <a:gd name="adj" fmla="val 452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676525"/>
            <a:ext cx="16245840" cy="278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F5F7FB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What should be defined before any AI security testing begins? </a:t>
            </a:r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The marketing plan for the AI product B. A safe testing plan with defined scope and forbidden actions C. The model's training dataset size D. The colour scheme of the chatbot UI</a:t>
            </a:r>
            <a:endParaRPr lang="en-US" sz="2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Summary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00300"/>
            <a:ext cx="16383000" cy="942975"/>
          </a:xfrm>
          <a:prstGeom prst="roundRect">
            <a:avLst>
              <a:gd name="adj" fmla="val 1616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14625"/>
            <a:ext cx="162458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modelling starts from assets, data flow, and trust boundaries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52500" y="3571875"/>
            <a:ext cx="16383000" cy="942975"/>
          </a:xfrm>
          <a:prstGeom prst="roundRect">
            <a:avLst>
              <a:gd name="adj" fmla="val 1616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6825" y="3886200"/>
            <a:ext cx="162458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Abuse cases and risk classification prioritise testing effort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52500" y="4743450"/>
            <a:ext cx="16383000" cy="942975"/>
          </a:xfrm>
          <a:prstGeom prst="roundRect">
            <a:avLst>
              <a:gd name="adj" fmla="val 1616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6825" y="5057775"/>
            <a:ext cx="162458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written safe testing plan separates acceptable from unsafe testing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" y="5915025"/>
            <a:ext cx="16383000" cy="942975"/>
          </a:xfrm>
          <a:prstGeom prst="roundRect">
            <a:avLst>
              <a:gd name="adj" fmla="val 1616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6825" y="6229350"/>
            <a:ext cx="162458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foundations scope the practical testing covered from Module 3 onward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3791471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4272483"/>
            <a:ext cx="16874490" cy="1546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22"/>
              </a:lnSpc>
              <a:buNone/>
            </a:pPr>
            <a:r>
              <a:rPr lang="en-US" sz="54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3: Prompt Injection &amp; Instruction Manipulation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52500" y="6047854"/>
            <a:ext cx="180213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Module 2 PBQ, Flashcards, Cheat Sheet, and Quiz before continuing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52500" y="9696450"/>
            <a:ext cx="195650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278174" y="9696450"/>
            <a:ext cx="226305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</a:t>
            </a:r>
            <a:pPr algn="l" indent="0" marL="0">
              <a:buNone/>
            </a:pPr>
            <a:r>
              <a:rPr lang="en-US" sz="165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2026-07-27T21:29:00Z</dcterms:created>
  <dcterms:modified xsi:type="dcterms:W3CDTF">2026-07-27T21:29:00Z</dcterms:modified>
</cp:coreProperties>
</file>