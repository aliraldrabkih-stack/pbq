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covers the Context Manipulation &amp; Sensitive Data Exposure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the Context Manipulation &amp; Sensitive Data Exposure lab and PBQ.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context manipulation with a concrete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memory persistence as a risk multiplier.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theme of the module's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disclosure broadly: PII, credentials, internal business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back to trust boundary concept from Module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shared infrastructure risk for SaaS AI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enforcing access control at the retrieval/context layer, not just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data minimisation as the leading mitigation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into the Context Manipulation &amp; Sensitive Data Exposure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identifying cross-user data exposure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Practise assessing whether responses expose sensitive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mitigation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learners to the hands-on lab that accompanies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learners of assessment weighting to set revision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 this question aloud; reveal the answer after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topics and four practical skills before moving to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and preview Module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766691"/>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AI SECURITY PRACTITIONER · MODULE 4 OF 10</a:t>
            </a:r>
            <a:endParaRPr lang="en-US" sz="1950" dirty="0"/>
          </a:p>
        </p:txBody>
      </p:sp>
      <p:sp>
        <p:nvSpPr>
          <p:cNvPr id="4" name="Text 2"/>
          <p:cNvSpPr/>
          <p:nvPr/>
        </p:nvSpPr>
        <p:spPr>
          <a:xfrm>
            <a:off x="952500" y="4285804"/>
            <a:ext cx="16874490" cy="1558230"/>
          </a:xfrm>
          <a:prstGeom prst="rect">
            <a:avLst/>
          </a:prstGeom>
          <a:noFill/>
          <a:ln/>
        </p:spPr>
        <p:txBody>
          <a:bodyPr wrap="square" lIns="25400" tIns="25400" rIns="25400" bIns="25400" rtlCol="0" anchor="t">
            <a:normAutofit/>
          </a:bodyPr>
          <a:lstStyle/>
          <a:p>
            <a:pPr algn="l" indent="0" marL="0">
              <a:lnSpc>
                <a:spcPct val="91200"/>
              </a:lnSpc>
              <a:buNone/>
            </a:pPr>
            <a:r>
              <a:rPr lang="en-US" sz="5700" b="1" dirty="0">
                <a:solidFill>
                  <a:srgbClr val="F5F7FB"/>
                </a:solidFill>
                <a:latin typeface="Arial" pitchFamily="34" charset="0"/>
                <a:ea typeface="Arial" pitchFamily="34" charset="-122"/>
                <a:cs typeface="Arial" pitchFamily="34" charset="-120"/>
              </a:rPr>
              <a:t>Context, Memory &amp; Sensitive Data Exposure</a:t>
            </a:r>
            <a:endParaRPr lang="en-US" sz="5700" dirty="0"/>
          </a:p>
        </p:txBody>
      </p:sp>
      <p:sp>
        <p:nvSpPr>
          <p:cNvPr id="5" name="Text 3"/>
          <p:cNvSpPr/>
          <p:nvPr/>
        </p:nvSpPr>
        <p:spPr>
          <a:xfrm>
            <a:off x="952500" y="6072634"/>
            <a:ext cx="1802130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B8C0CF"/>
                </a:solidFill>
                <a:latin typeface="Arial" pitchFamily="34" charset="0"/>
                <a:ea typeface="Arial" pitchFamily="34" charset="-122"/>
                <a:cs typeface="Arial" pitchFamily="34" charset="-120"/>
              </a:rPr>
              <a:t>How AI systems expose sensitive information through poor context handling</a:t>
            </a:r>
            <a:endParaRPr lang="en-US" sz="3000" dirty="0"/>
          </a:p>
        </p:txBody>
      </p:sp>
      <p:sp>
        <p:nvSpPr>
          <p:cNvPr id="6" name="Text 4"/>
          <p:cNvSpPr/>
          <p:nvPr/>
        </p:nvSpPr>
        <p:spPr>
          <a:xfrm>
            <a:off x="952500" y="9696450"/>
            <a:ext cx="1956509"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891A1"/>
                </a:solidFill>
                <a:latin typeface="Arial" pitchFamily="34" charset="0"/>
                <a:ea typeface="Arial" pitchFamily="34" charset="-122"/>
                <a:cs typeface="Arial" pitchFamily="34" charset="-120"/>
              </a:rPr>
              <a:t>My Cyber Academy</a:t>
            </a:r>
            <a:endParaRPr lang="en-US" sz="1650" dirty="0"/>
          </a:p>
        </p:txBody>
      </p:sp>
      <p:sp>
        <p:nvSpPr>
          <p:cNvPr id="7" name="Text 5"/>
          <p:cNvSpPr/>
          <p:nvPr/>
        </p:nvSpPr>
        <p:spPr>
          <a:xfrm>
            <a:off x="15278174" y="9696450"/>
            <a:ext cx="2263058"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CYBER </a:t>
            </a:r>
            <a:pPr algn="l" indent="0" marL="0">
              <a:buNone/>
            </a:pPr>
            <a:r>
              <a:rPr lang="en-US" sz="1650" b="1" spc="150" kern="0" dirty="0">
                <a:solidFill>
                  <a:srgbClr val="8891A1"/>
                </a:solidFill>
                <a:latin typeface="Arial" pitchFamily="34" charset="0"/>
                <a:ea typeface="Arial" pitchFamily="34" charset="-122"/>
                <a:cs typeface="Arial" pitchFamily="34" charset="-120"/>
              </a:rPr>
              <a:t>ACADEMY</a:t>
            </a:r>
            <a:endParaRPr lang="en-US"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LEARNING OBJECTIVES</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By the end of this module, you will be able to</a:t>
            </a:r>
            <a:endParaRPr lang="en-US" sz="4800" dirty="0"/>
          </a:p>
        </p:txBody>
      </p:sp>
      <p:sp>
        <p:nvSpPr>
          <p:cNvPr id="5" name="Shape 3"/>
          <p:cNvSpPr/>
          <p:nvPr/>
        </p:nvSpPr>
        <p:spPr>
          <a:xfrm>
            <a:off x="952500" y="2438400"/>
            <a:ext cx="8058150" cy="966788"/>
          </a:xfrm>
          <a:prstGeom prst="roundRect">
            <a:avLst>
              <a:gd name="adj" fmla="val 15764"/>
            </a:avLst>
          </a:prstGeom>
          <a:solidFill>
            <a:srgbClr val="FFFFFF">
              <a:alpha val="2000"/>
            </a:srgbClr>
          </a:solidFill>
          <a:ln w="9525">
            <a:solidFill>
              <a:srgbClr val="2A2F3A"/>
            </a:solidFill>
            <a:prstDash val="solid"/>
          </a:ln>
        </p:spPr>
      </p:sp>
      <p:sp>
        <p:nvSpPr>
          <p:cNvPr id="6" name="Text 4"/>
          <p:cNvSpPr/>
          <p:nvPr/>
        </p:nvSpPr>
        <p:spPr>
          <a:xfrm>
            <a:off x="1266825" y="2752725"/>
            <a:ext cx="7671244"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Test for context leakage</a:t>
            </a:r>
            <a:endParaRPr lang="en-US" sz="2250" dirty="0"/>
          </a:p>
        </p:txBody>
      </p:sp>
      <p:sp>
        <p:nvSpPr>
          <p:cNvPr id="7" name="Shape 5"/>
          <p:cNvSpPr/>
          <p:nvPr/>
        </p:nvSpPr>
        <p:spPr>
          <a:xfrm>
            <a:off x="9277350" y="2438400"/>
            <a:ext cx="8058150" cy="966788"/>
          </a:xfrm>
          <a:prstGeom prst="roundRect">
            <a:avLst>
              <a:gd name="adj" fmla="val 15764"/>
            </a:avLst>
          </a:prstGeom>
          <a:solidFill>
            <a:srgbClr val="FFFFFF">
              <a:alpha val="2000"/>
            </a:srgbClr>
          </a:solidFill>
          <a:ln w="9525">
            <a:solidFill>
              <a:srgbClr val="2A2F3A"/>
            </a:solidFill>
            <a:prstDash val="solid"/>
          </a:ln>
        </p:spPr>
      </p:sp>
      <p:sp>
        <p:nvSpPr>
          <p:cNvPr id="8" name="Text 6"/>
          <p:cNvSpPr/>
          <p:nvPr/>
        </p:nvSpPr>
        <p:spPr>
          <a:xfrm>
            <a:off x="9591675" y="2752725"/>
            <a:ext cx="7671244" cy="376238"/>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Identify cross-user data exposure</a:t>
            </a:r>
            <a:endParaRPr lang="en-US" sz="2250" dirty="0"/>
          </a:p>
        </p:txBody>
      </p:sp>
      <p:sp>
        <p:nvSpPr>
          <p:cNvPr id="9" name="Shape 7"/>
          <p:cNvSpPr/>
          <p:nvPr/>
        </p:nvSpPr>
        <p:spPr>
          <a:xfrm>
            <a:off x="952500" y="3671888"/>
            <a:ext cx="8058150" cy="1304925"/>
          </a:xfrm>
          <a:prstGeom prst="roundRect">
            <a:avLst>
              <a:gd name="adj" fmla="val 11679"/>
            </a:avLst>
          </a:prstGeom>
          <a:solidFill>
            <a:srgbClr val="FFFFFF">
              <a:alpha val="2000"/>
            </a:srgbClr>
          </a:solidFill>
          <a:ln w="9525">
            <a:solidFill>
              <a:srgbClr val="2A2F3A"/>
            </a:solidFill>
            <a:prstDash val="solid"/>
          </a:ln>
        </p:spPr>
      </p:sp>
      <p:sp>
        <p:nvSpPr>
          <p:cNvPr id="10" name="Text 8"/>
          <p:cNvSpPr/>
          <p:nvPr/>
        </p:nvSpPr>
        <p:spPr>
          <a:xfrm>
            <a:off x="1266825" y="3986213"/>
            <a:ext cx="7671244" cy="714375"/>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Assess whether sensitive data is exposed through AI responses</a:t>
            </a:r>
            <a:endParaRPr lang="en-US" sz="2250" dirty="0"/>
          </a:p>
        </p:txBody>
      </p:sp>
      <p:sp>
        <p:nvSpPr>
          <p:cNvPr id="11" name="Shape 9"/>
          <p:cNvSpPr/>
          <p:nvPr/>
        </p:nvSpPr>
        <p:spPr>
          <a:xfrm>
            <a:off x="9277350" y="3671888"/>
            <a:ext cx="8058150" cy="1304925"/>
          </a:xfrm>
          <a:prstGeom prst="roundRect">
            <a:avLst>
              <a:gd name="adj" fmla="val 11679"/>
            </a:avLst>
          </a:prstGeom>
          <a:solidFill>
            <a:srgbClr val="FFFFFF">
              <a:alpha val="2000"/>
            </a:srgbClr>
          </a:solidFill>
          <a:ln w="9525">
            <a:solidFill>
              <a:srgbClr val="2A2F3A"/>
            </a:solidFill>
            <a:prstDash val="solid"/>
          </a:ln>
        </p:spPr>
      </p:sp>
      <p:sp>
        <p:nvSpPr>
          <p:cNvPr id="12" name="Text 10"/>
          <p:cNvSpPr/>
          <p:nvPr/>
        </p:nvSpPr>
        <p:spPr>
          <a:xfrm>
            <a:off x="9591675" y="3986213"/>
            <a:ext cx="7671244" cy="714375"/>
          </a:xfrm>
          <a:prstGeom prst="rect">
            <a:avLst/>
          </a:prstGeom>
          <a:noFill/>
          <a:ln/>
        </p:spPr>
        <p:txBody>
          <a:bodyPr wrap="square" lIns="25400" tIns="25400" rIns="25400" bIns="25400" rtlCol="0" anchor="t">
            <a:normAutofit/>
          </a:bodyPr>
          <a:lstStyle/>
          <a:p>
            <a:pPr algn="l" indent="0" marL="0">
              <a:buNone/>
            </a:pPr>
            <a:r>
              <a:rPr lang="en-US" sz="2250" dirty="0">
                <a:solidFill>
                  <a:srgbClr val="F5F7FB"/>
                </a:solidFill>
                <a:latin typeface="Arial" pitchFamily="34" charset="0"/>
                <a:ea typeface="Arial" pitchFamily="34" charset="-122"/>
                <a:cs typeface="Arial" pitchFamily="34" charset="-120"/>
              </a:rPr>
              <a:t>Recommend safer context and memory handling controls</a:t>
            </a:r>
            <a:endParaRPr lang="en-US" sz="2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1</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Context Manipulation</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An attacker deliberately shapes what enters the model's context window — through earlier turns, injected content, or crafted requests — to influence later responses.</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2</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Conversation Memory Risk</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When an application persists conversation history across turns or sessions, sensitive details shared earlier can resurface unexpectedly, or leak to the wrong party.</a:t>
            </a:r>
            <a:endParaRPr lang="en-US" sz="2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3</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Cross-User Data Exposure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Poor session isolation can cause one user's context, memory, or retrieved data to leak into another user's conversation — a critical failure in multi-tenant AI applications.</a:t>
            </a:r>
            <a:endParaRPr lang="en-US" sz="2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4</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Sensitive Information Disclosure</a:t>
            </a:r>
            <a:endParaRPr lang="en-US" sz="4800" dirty="0"/>
          </a:p>
        </p:txBody>
      </p:sp>
      <p:sp>
        <p:nvSpPr>
          <p:cNvPr id="5" name="Shape 3"/>
          <p:cNvSpPr/>
          <p:nvPr/>
        </p:nvSpPr>
        <p:spPr>
          <a:xfrm>
            <a:off x="952500" y="2438400"/>
            <a:ext cx="5334000" cy="919162"/>
          </a:xfrm>
          <a:prstGeom prst="roundRect">
            <a:avLst>
              <a:gd name="adj" fmla="val 16580"/>
            </a:avLst>
          </a:prstGeom>
          <a:solidFill>
            <a:srgbClr val="FFFFFF">
              <a:alpha val="2000"/>
            </a:srgbClr>
          </a:solidFill>
          <a:ln w="9525">
            <a:solidFill>
              <a:srgbClr val="2A2F3A"/>
            </a:solidFill>
            <a:prstDash val="solid"/>
          </a:ln>
        </p:spPr>
      </p:sp>
      <p:sp>
        <p:nvSpPr>
          <p:cNvPr id="6" name="Text 4"/>
          <p:cNvSpPr/>
          <p:nvPr/>
        </p:nvSpPr>
        <p:spPr>
          <a:xfrm>
            <a:off x="1031558" y="2752725"/>
            <a:ext cx="5175885" cy="328613"/>
          </a:xfrm>
          <a:prstGeom prst="rect">
            <a:avLst/>
          </a:prstGeom>
          <a:noFill/>
          <a:ln/>
        </p:spPr>
        <p:txBody>
          <a:bodyPr wrap="square" lIns="25400" tIns="25400" rIns="25400" bIns="25400" rtlCol="0" anchor="t">
            <a:normAutofit/>
          </a:bodyPr>
          <a:lstStyle/>
          <a:p>
            <a:pPr algn="ctr" indent="0" marL="0">
              <a:buNone/>
            </a:pPr>
            <a:r>
              <a:rPr lang="en-US" sz="1950" b="1" dirty="0">
                <a:solidFill>
                  <a:srgbClr val="FF6A00"/>
                </a:solidFill>
                <a:latin typeface="Arial" pitchFamily="34" charset="0"/>
                <a:ea typeface="Arial" pitchFamily="34" charset="-122"/>
                <a:cs typeface="Arial" pitchFamily="34" charset="-120"/>
              </a:rPr>
              <a:t>PII</a:t>
            </a:r>
            <a:endParaRPr lang="en-US" sz="1950" dirty="0"/>
          </a:p>
        </p:txBody>
      </p:sp>
      <p:sp>
        <p:nvSpPr>
          <p:cNvPr id="7" name="Shape 5"/>
          <p:cNvSpPr/>
          <p:nvPr/>
        </p:nvSpPr>
        <p:spPr>
          <a:xfrm>
            <a:off x="6477000" y="2438400"/>
            <a:ext cx="5334000" cy="919162"/>
          </a:xfrm>
          <a:prstGeom prst="roundRect">
            <a:avLst>
              <a:gd name="adj" fmla="val 16580"/>
            </a:avLst>
          </a:prstGeom>
          <a:solidFill>
            <a:srgbClr val="FFFFFF">
              <a:alpha val="2000"/>
            </a:srgbClr>
          </a:solidFill>
          <a:ln w="9525">
            <a:solidFill>
              <a:srgbClr val="2A2F3A"/>
            </a:solidFill>
            <a:prstDash val="solid"/>
          </a:ln>
        </p:spPr>
      </p:sp>
      <p:sp>
        <p:nvSpPr>
          <p:cNvPr id="8" name="Text 6"/>
          <p:cNvSpPr/>
          <p:nvPr/>
        </p:nvSpPr>
        <p:spPr>
          <a:xfrm>
            <a:off x="6556058" y="2752725"/>
            <a:ext cx="5175885" cy="328613"/>
          </a:xfrm>
          <a:prstGeom prst="rect">
            <a:avLst/>
          </a:prstGeom>
          <a:noFill/>
          <a:ln/>
        </p:spPr>
        <p:txBody>
          <a:bodyPr wrap="square" lIns="25400" tIns="25400" rIns="25400" bIns="25400" rtlCol="0" anchor="t">
            <a:normAutofit/>
          </a:bodyPr>
          <a:lstStyle/>
          <a:p>
            <a:pPr algn="ctr" indent="0" marL="0">
              <a:buNone/>
            </a:pPr>
            <a:r>
              <a:rPr lang="en-US" sz="1950" b="1" dirty="0">
                <a:solidFill>
                  <a:srgbClr val="FF6A00"/>
                </a:solidFill>
                <a:latin typeface="Arial" pitchFamily="34" charset="0"/>
                <a:ea typeface="Arial" pitchFamily="34" charset="-122"/>
                <a:cs typeface="Arial" pitchFamily="34" charset="-120"/>
              </a:rPr>
              <a:t>Credentials &amp; Secrets</a:t>
            </a:r>
            <a:endParaRPr lang="en-US" sz="1950" dirty="0"/>
          </a:p>
        </p:txBody>
      </p:sp>
      <p:sp>
        <p:nvSpPr>
          <p:cNvPr id="9" name="Shape 7"/>
          <p:cNvSpPr/>
          <p:nvPr/>
        </p:nvSpPr>
        <p:spPr>
          <a:xfrm>
            <a:off x="12001500" y="2438400"/>
            <a:ext cx="5334000" cy="919162"/>
          </a:xfrm>
          <a:prstGeom prst="roundRect">
            <a:avLst>
              <a:gd name="adj" fmla="val 16580"/>
            </a:avLst>
          </a:prstGeom>
          <a:solidFill>
            <a:srgbClr val="FFFFFF">
              <a:alpha val="2000"/>
            </a:srgbClr>
          </a:solidFill>
          <a:ln w="9525">
            <a:solidFill>
              <a:srgbClr val="2A2F3A"/>
            </a:solidFill>
            <a:prstDash val="solid"/>
          </a:ln>
        </p:spPr>
      </p:sp>
      <p:sp>
        <p:nvSpPr>
          <p:cNvPr id="10" name="Text 8"/>
          <p:cNvSpPr/>
          <p:nvPr/>
        </p:nvSpPr>
        <p:spPr>
          <a:xfrm>
            <a:off x="12080558" y="2752725"/>
            <a:ext cx="5175885" cy="328613"/>
          </a:xfrm>
          <a:prstGeom prst="rect">
            <a:avLst/>
          </a:prstGeom>
          <a:noFill/>
          <a:ln/>
        </p:spPr>
        <p:txBody>
          <a:bodyPr wrap="square" lIns="25400" tIns="25400" rIns="25400" bIns="25400" rtlCol="0" anchor="t">
            <a:normAutofit/>
          </a:bodyPr>
          <a:lstStyle/>
          <a:p>
            <a:pPr algn="ctr" indent="0" marL="0">
              <a:buNone/>
            </a:pPr>
            <a:r>
              <a:rPr lang="en-US" sz="1950" b="1" dirty="0">
                <a:solidFill>
                  <a:srgbClr val="FF6A00"/>
                </a:solidFill>
                <a:latin typeface="Arial" pitchFamily="34" charset="0"/>
                <a:ea typeface="Arial" pitchFamily="34" charset="-122"/>
                <a:cs typeface="Arial" pitchFamily="34" charset="-120"/>
              </a:rPr>
              <a:t>Internal Business Data</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5</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Prompt/Context Separation Failure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Occurs when the application fails to clearly separate one user's data, or one session's data, from another's within the shared context assembly process.</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6</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Multi-Tenant AI Application Risks</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Applications serving multiple customers or organisations from shared infrastructure must strictly isolate each tenant's context, memory, and retrieved data.</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7</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Access Control for AI Context</a:t>
            </a:r>
            <a:endParaRPr lang="en-US" sz="4800" dirty="0"/>
          </a:p>
        </p:txBody>
      </p:sp>
      <p:sp>
        <p:nvSpPr>
          <p:cNvPr id="5" name="Shape 3"/>
          <p:cNvSpPr/>
          <p:nvPr/>
        </p:nvSpPr>
        <p:spPr>
          <a:xfrm>
            <a:off x="952500" y="2438400"/>
            <a:ext cx="16383000" cy="1085850"/>
          </a:xfrm>
          <a:prstGeom prst="roundRect">
            <a:avLst>
              <a:gd name="adj" fmla="val 14035"/>
            </a:avLst>
          </a:prstGeom>
          <a:solidFill>
            <a:srgbClr val="FFFFFF">
              <a:alpha val="2000"/>
            </a:srgbClr>
          </a:solidFill>
          <a:ln w="9525">
            <a:solidFill>
              <a:srgbClr val="2A2F3A"/>
            </a:solidFill>
            <a:prstDash val="solid"/>
          </a:ln>
        </p:spPr>
      </p:sp>
      <p:sp>
        <p:nvSpPr>
          <p:cNvPr id="6" name="Text 4"/>
          <p:cNvSpPr/>
          <p:nvPr/>
        </p:nvSpPr>
        <p:spPr>
          <a:xfrm>
            <a:off x="1266825" y="2752725"/>
            <a:ext cx="16245840" cy="495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Access control must be enforced at the point where context or documents are assembled — not only at the user interface layer.</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TOPIC 8</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Data Minimisation in AI Systems</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Only pass the data the model genuinely needs into its context — reducing what could be exposed if a leakage vulnerability is exploited.</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 · LAB: CONTEXT MANIPULATION &amp; SENSITIVE DATA EXPOSURE</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Testing for Context Leakage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Within agreed scope, attempt to surface information that should not be visible from prior turns, other sessions, or retrieved documents.</a:t>
            </a:r>
            <a:endParaRPr lang="en-US" sz="2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Identifying Cross-User Data Exposure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Check whether one test account's session, memory, or retrieved content can influence or appear in another test account's conversation.</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Assessing Sensitive Data Exposure</a:t>
            </a:r>
            <a:endParaRPr lang="en-US" sz="4800" dirty="0"/>
          </a:p>
        </p:txBody>
      </p:sp>
      <p:sp>
        <p:nvSpPr>
          <p:cNvPr id="5" name="Shape 3"/>
          <p:cNvSpPr/>
          <p:nvPr/>
        </p:nvSpPr>
        <p:spPr>
          <a:xfrm>
            <a:off x="952500" y="2438400"/>
            <a:ext cx="16383000" cy="1543050"/>
          </a:xfrm>
          <a:prstGeom prst="roundRect">
            <a:avLst>
              <a:gd name="adj" fmla="val 9877"/>
            </a:avLst>
          </a:prstGeom>
          <a:solidFill>
            <a:srgbClr val="FFFFFF">
              <a:alpha val="2000"/>
            </a:srgbClr>
          </a:solidFill>
          <a:ln w="9525">
            <a:solidFill>
              <a:srgbClr val="2A2F3A"/>
            </a:solidFill>
            <a:prstDash val="solid"/>
          </a:ln>
        </p:spPr>
      </p:sp>
      <p:sp>
        <p:nvSpPr>
          <p:cNvPr id="6" name="Text 4"/>
          <p:cNvSpPr/>
          <p:nvPr/>
        </p:nvSpPr>
        <p:spPr>
          <a:xfrm>
            <a:off x="1266825" y="2752725"/>
            <a:ext cx="16245840" cy="9525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Review AI responses for PII, credentials, or internal business data that should not have been included, and trace how it reached the context.</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PRACTICAL SKILL</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Recommending Context &amp; Memory Controls</a:t>
            </a:r>
            <a:endParaRPr lang="en-US" sz="4800" dirty="0"/>
          </a:p>
        </p:txBody>
      </p:sp>
      <p:sp>
        <p:nvSpPr>
          <p:cNvPr id="5" name="Shape 3"/>
          <p:cNvSpPr/>
          <p:nvPr/>
        </p:nvSpPr>
        <p:spPr>
          <a:xfrm>
            <a:off x="952500" y="2438400"/>
            <a:ext cx="16383000" cy="1085850"/>
          </a:xfrm>
          <a:prstGeom prst="roundRect">
            <a:avLst>
              <a:gd name="adj" fmla="val 14035"/>
            </a:avLst>
          </a:prstGeom>
          <a:solidFill>
            <a:srgbClr val="FFFFFF">
              <a:alpha val="2000"/>
            </a:srgbClr>
          </a:solidFill>
          <a:ln w="9525">
            <a:solidFill>
              <a:srgbClr val="2A2F3A"/>
            </a:solidFill>
            <a:prstDash val="solid"/>
          </a:ln>
        </p:spPr>
      </p:sp>
      <p:sp>
        <p:nvSpPr>
          <p:cNvPr id="6" name="Text 4"/>
          <p:cNvSpPr/>
          <p:nvPr/>
        </p:nvSpPr>
        <p:spPr>
          <a:xfrm>
            <a:off x="1266825" y="2752725"/>
            <a:ext cx="16245840" cy="495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Recommend session isolation, access control at the retrieval layer, data minimisation, and memory expiry policies as appropriate.</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4291013"/>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LAB ALIGNMENT</a:t>
            </a:r>
            <a:endParaRPr lang="en-US" sz="1950" dirty="0"/>
          </a:p>
        </p:txBody>
      </p:sp>
      <p:sp>
        <p:nvSpPr>
          <p:cNvPr id="4" name="Text 2"/>
          <p:cNvSpPr/>
          <p:nvPr/>
        </p:nvSpPr>
        <p:spPr>
          <a:xfrm>
            <a:off x="952500" y="4733925"/>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Context Manipulation &amp; Sensitive Data Exposure</a:t>
            </a:r>
            <a:endParaRPr lang="en-US" sz="4800" dirty="0"/>
          </a:p>
        </p:txBody>
      </p:sp>
      <p:sp>
        <p:nvSpPr>
          <p:cNvPr id="5" name="Text 3"/>
          <p:cNvSpPr/>
          <p:nvPr/>
        </p:nvSpPr>
        <p:spPr>
          <a:xfrm>
            <a:off x="952500" y="5643563"/>
            <a:ext cx="1802130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B8C0CF"/>
                </a:solidFill>
                <a:latin typeface="Arial" pitchFamily="34" charset="0"/>
                <a:ea typeface="Arial" pitchFamily="34" charset="-122"/>
                <a:cs typeface="Arial" pitchFamily="34" charset="-120"/>
              </a:rPr>
              <a:t>Existing lab · Easy difficulty · Syllabus area: Context &amp; Data Exposure</a:t>
            </a:r>
            <a:endParaRPr 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175867" y="3793331"/>
            <a:ext cx="3936266" cy="328613"/>
          </a:xfrm>
          <a:prstGeom prst="rect">
            <a:avLst/>
          </a:prstGeom>
          <a:noFill/>
          <a:ln/>
        </p:spPr>
        <p:txBody>
          <a:bodyPr wrap="square" lIns="25400" tIns="25400" rIns="25400" bIns="25400" rtlCol="0" anchor="t">
            <a:normAutofit/>
          </a:bodyPr>
          <a:lstStyle/>
          <a:p>
            <a:pPr algn="ctr" indent="0" marL="0">
              <a:buNone/>
            </a:pPr>
            <a:r>
              <a:rPr lang="en-US" sz="1950" b="1" spc="150" kern="0" dirty="0">
                <a:solidFill>
                  <a:srgbClr val="FF6A00"/>
                </a:solidFill>
                <a:latin typeface="Arial" pitchFamily="34" charset="0"/>
                <a:ea typeface="Arial" pitchFamily="34" charset="-122"/>
                <a:cs typeface="Arial" pitchFamily="34" charset="-120"/>
              </a:rPr>
              <a:t>ASSESSMENT WEIGHTING</a:t>
            </a:r>
            <a:endParaRPr lang="en-US" sz="1950" dirty="0"/>
          </a:p>
        </p:txBody>
      </p:sp>
      <p:sp>
        <p:nvSpPr>
          <p:cNvPr id="4" name="Text 2"/>
          <p:cNvSpPr/>
          <p:nvPr/>
        </p:nvSpPr>
        <p:spPr>
          <a:xfrm>
            <a:off x="7185280" y="4274344"/>
            <a:ext cx="3917439" cy="1752600"/>
          </a:xfrm>
          <a:prstGeom prst="rect">
            <a:avLst/>
          </a:prstGeom>
          <a:noFill/>
          <a:ln/>
        </p:spPr>
        <p:txBody>
          <a:bodyPr wrap="square" lIns="25400" tIns="25400" rIns="25400" bIns="25400" rtlCol="0" anchor="t">
            <a:normAutofit/>
          </a:bodyPr>
          <a:lstStyle/>
          <a:p>
            <a:pPr algn="ctr" indent="0" marL="0">
              <a:lnSpc>
                <a:spcPct val="86957"/>
              </a:lnSpc>
              <a:buNone/>
            </a:pPr>
            <a:r>
              <a:rPr lang="en-US" sz="13500" b="1" dirty="0">
                <a:solidFill>
                  <a:srgbClr val="FF6A00"/>
                </a:solidFill>
                <a:latin typeface="Arial" pitchFamily="34" charset="0"/>
                <a:ea typeface="Arial" pitchFamily="34" charset="-122"/>
                <a:cs typeface="Arial" pitchFamily="34" charset="-120"/>
              </a:rPr>
              <a:t>12%</a:t>
            </a:r>
            <a:endParaRPr lang="en-US" sz="13500" dirty="0"/>
          </a:p>
        </p:txBody>
      </p:sp>
      <p:sp>
        <p:nvSpPr>
          <p:cNvPr id="5" name="Text 3"/>
          <p:cNvSpPr/>
          <p:nvPr/>
        </p:nvSpPr>
        <p:spPr>
          <a:xfrm>
            <a:off x="5450272" y="6141244"/>
            <a:ext cx="7387456" cy="485775"/>
          </a:xfrm>
          <a:prstGeom prst="rect">
            <a:avLst/>
          </a:prstGeom>
          <a:noFill/>
          <a:ln/>
        </p:spPr>
        <p:txBody>
          <a:bodyPr wrap="square" lIns="25400" tIns="25400" rIns="25400" bIns="25400" rtlCol="0" anchor="t">
            <a:normAutofit/>
          </a:bodyPr>
          <a:lstStyle/>
          <a:p>
            <a:pPr algn="ctr" indent="0" marL="0">
              <a:buNone/>
            </a:pPr>
            <a:r>
              <a:rPr lang="en-US" sz="3000" dirty="0">
                <a:solidFill>
                  <a:srgbClr val="B8C0CF"/>
                </a:solidFill>
                <a:latin typeface="Arial" pitchFamily="34" charset="0"/>
                <a:ea typeface="Arial" pitchFamily="34" charset="-122"/>
                <a:cs typeface="Arial" pitchFamily="34" charset="-120"/>
              </a:rPr>
              <a:t>of the AI Security Practitioner certification</a:t>
            </a:r>
            <a:endParaRPr lang="en-US" sz="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KNOWLEDGE CHECK</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Quick Question</a:t>
            </a:r>
            <a:endParaRPr lang="en-US" sz="4800" dirty="0"/>
          </a:p>
        </p:txBody>
      </p:sp>
      <p:sp>
        <p:nvSpPr>
          <p:cNvPr id="5" name="Shape 3"/>
          <p:cNvSpPr/>
          <p:nvPr/>
        </p:nvSpPr>
        <p:spPr>
          <a:xfrm>
            <a:off x="952500" y="2362200"/>
            <a:ext cx="16383000" cy="3371850"/>
          </a:xfrm>
          <a:prstGeom prst="roundRect">
            <a:avLst>
              <a:gd name="adj" fmla="val 4520"/>
            </a:avLst>
          </a:prstGeom>
          <a:solidFill>
            <a:srgbClr val="FFFFFF">
              <a:alpha val="2000"/>
            </a:srgbClr>
          </a:solidFill>
          <a:ln w="9525">
            <a:solidFill>
              <a:srgbClr val="2A2F3A"/>
            </a:solidFill>
            <a:prstDash val="solid"/>
          </a:ln>
        </p:spPr>
      </p:sp>
      <p:sp>
        <p:nvSpPr>
          <p:cNvPr id="6" name="Text 4"/>
          <p:cNvSpPr/>
          <p:nvPr/>
        </p:nvSpPr>
        <p:spPr>
          <a:xfrm>
            <a:off x="1266825" y="2676525"/>
            <a:ext cx="16245840" cy="2781300"/>
          </a:xfrm>
          <a:prstGeom prst="rect">
            <a:avLst/>
          </a:prstGeom>
          <a:noFill/>
          <a:ln/>
        </p:spPr>
        <p:txBody>
          <a:bodyPr wrap="square" lIns="25400" tIns="25400" rIns="25400" bIns="25400" rtlCol="0" anchor="t">
            <a:normAutofit/>
          </a:bodyPr>
          <a:lstStyle/>
          <a:p>
            <a:pPr algn="l" indent="0" marL="0">
              <a:lnSpc>
                <a:spcPct val="139130"/>
              </a:lnSpc>
              <a:buNone/>
            </a:pPr>
            <a:r>
              <a:rPr lang="en-US" sz="2250" dirty="0">
                <a:solidFill>
                  <a:srgbClr val="F5F7FB"/>
                </a:solidFill>
                <a:highlight>
                  <a:srgbClr val="FFFFFF"/>
                </a:highlight>
                <a:latin typeface="Arial" pitchFamily="34" charset="0"/>
                <a:ea typeface="Arial" pitchFamily="34" charset="-122"/>
                <a:cs typeface="Arial" pitchFamily="34" charset="-120"/>
              </a:rPr>
              <a:t>Why is cross-user data exposure a critical risk in multi-tenant AI applications? </a:t>
            </a:r>
            <a:pPr algn="l" indent="0" marL="0">
              <a:lnSpc>
                <a:spcPct val="139130"/>
              </a:lnSpc>
              <a:buNone/>
            </a:pPr>
            <a:r>
              <a:rPr lang="en-US" sz="2250" dirty="0">
                <a:solidFill>
                  <a:srgbClr val="B8C0CF"/>
                </a:solidFill>
                <a:latin typeface="Arial" pitchFamily="34" charset="0"/>
                <a:ea typeface="Arial" pitchFamily="34" charset="-122"/>
                <a:cs typeface="Arial" pitchFamily="34" charset="-120"/>
              </a:rPr>
              <a:t>A. It only affects the application's billing B. Poor session isolation can leak one user's context or data into another user's conversation C. It has no security relevance D. It only affects offline batch processing jobs</a:t>
            </a:r>
            <a:endParaRPr lang="en-US" sz="2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857250"/>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SUMMARY</a:t>
            </a:r>
            <a:endParaRPr lang="en-US" sz="1950" dirty="0"/>
          </a:p>
        </p:txBody>
      </p:sp>
      <p:sp>
        <p:nvSpPr>
          <p:cNvPr id="4" name="Text 2"/>
          <p:cNvSpPr/>
          <p:nvPr/>
        </p:nvSpPr>
        <p:spPr>
          <a:xfrm>
            <a:off x="952500" y="1300163"/>
            <a:ext cx="18021300" cy="757238"/>
          </a:xfrm>
          <a:prstGeom prst="rect">
            <a:avLst/>
          </a:prstGeom>
          <a:noFill/>
          <a:ln/>
        </p:spPr>
        <p:txBody>
          <a:bodyPr wrap="square" lIns="25400" tIns="25400" rIns="25400" bIns="25400" rtlCol="0" anchor="t">
            <a:normAutofit/>
          </a:bodyPr>
          <a:lstStyle/>
          <a:p>
            <a:pPr algn="l" indent="0" marL="0">
              <a:buNone/>
            </a:pPr>
            <a:r>
              <a:rPr lang="en-US" sz="4800" b="1" dirty="0">
                <a:solidFill>
                  <a:srgbClr val="F5F7FB"/>
                </a:solidFill>
                <a:latin typeface="Arial" pitchFamily="34" charset="0"/>
                <a:ea typeface="Arial" pitchFamily="34" charset="-122"/>
                <a:cs typeface="Arial" pitchFamily="34" charset="-120"/>
              </a:rPr>
              <a:t>Module 4 Summary</a:t>
            </a:r>
            <a:endParaRPr lang="en-US" sz="4800" dirty="0"/>
          </a:p>
        </p:txBody>
      </p:sp>
      <p:sp>
        <p:nvSpPr>
          <p:cNvPr id="5" name="Shape 3"/>
          <p:cNvSpPr/>
          <p:nvPr/>
        </p:nvSpPr>
        <p:spPr>
          <a:xfrm>
            <a:off x="952500" y="2400300"/>
            <a:ext cx="16383000" cy="942975"/>
          </a:xfrm>
          <a:prstGeom prst="roundRect">
            <a:avLst>
              <a:gd name="adj" fmla="val 16162"/>
            </a:avLst>
          </a:prstGeom>
          <a:solidFill>
            <a:srgbClr val="FFFFFF">
              <a:alpha val="2000"/>
            </a:srgbClr>
          </a:solidFill>
          <a:ln w="9525">
            <a:solidFill>
              <a:srgbClr val="2A2F3A"/>
            </a:solidFill>
            <a:prstDash val="solid"/>
          </a:ln>
        </p:spPr>
      </p:sp>
      <p:sp>
        <p:nvSpPr>
          <p:cNvPr id="6" name="Text 4"/>
          <p:cNvSpPr/>
          <p:nvPr/>
        </p:nvSpPr>
        <p:spPr>
          <a:xfrm>
            <a:off x="1266825" y="2714625"/>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Context manipulation and memory persistence create sensitive data exposure risk</a:t>
            </a:r>
            <a:endParaRPr lang="en-US" sz="2100" dirty="0"/>
          </a:p>
        </p:txBody>
      </p:sp>
      <p:sp>
        <p:nvSpPr>
          <p:cNvPr id="7" name="Shape 5"/>
          <p:cNvSpPr/>
          <p:nvPr/>
        </p:nvSpPr>
        <p:spPr>
          <a:xfrm>
            <a:off x="952500" y="3571875"/>
            <a:ext cx="16383000" cy="942975"/>
          </a:xfrm>
          <a:prstGeom prst="roundRect">
            <a:avLst>
              <a:gd name="adj" fmla="val 16162"/>
            </a:avLst>
          </a:prstGeom>
          <a:solidFill>
            <a:srgbClr val="FFFFFF">
              <a:alpha val="2000"/>
            </a:srgbClr>
          </a:solidFill>
          <a:ln w="9525">
            <a:solidFill>
              <a:srgbClr val="2A2F3A"/>
            </a:solidFill>
            <a:prstDash val="solid"/>
          </a:ln>
        </p:spPr>
      </p:sp>
      <p:sp>
        <p:nvSpPr>
          <p:cNvPr id="8" name="Text 6"/>
          <p:cNvSpPr/>
          <p:nvPr/>
        </p:nvSpPr>
        <p:spPr>
          <a:xfrm>
            <a:off x="1266825" y="3886200"/>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Multi-tenant applications must strictly isolate context between users</a:t>
            </a:r>
            <a:endParaRPr lang="en-US" sz="2100" dirty="0"/>
          </a:p>
        </p:txBody>
      </p:sp>
      <p:sp>
        <p:nvSpPr>
          <p:cNvPr id="9" name="Shape 7"/>
          <p:cNvSpPr/>
          <p:nvPr/>
        </p:nvSpPr>
        <p:spPr>
          <a:xfrm>
            <a:off x="952500" y="4743450"/>
            <a:ext cx="16383000" cy="942975"/>
          </a:xfrm>
          <a:prstGeom prst="roundRect">
            <a:avLst>
              <a:gd name="adj" fmla="val 16162"/>
            </a:avLst>
          </a:prstGeom>
          <a:solidFill>
            <a:srgbClr val="FFFFFF">
              <a:alpha val="2000"/>
            </a:srgbClr>
          </a:solidFill>
          <a:ln w="9525">
            <a:solidFill>
              <a:srgbClr val="2A2F3A"/>
            </a:solidFill>
            <a:prstDash val="solid"/>
          </a:ln>
        </p:spPr>
      </p:sp>
      <p:sp>
        <p:nvSpPr>
          <p:cNvPr id="10" name="Text 8"/>
          <p:cNvSpPr/>
          <p:nvPr/>
        </p:nvSpPr>
        <p:spPr>
          <a:xfrm>
            <a:off x="1266825" y="5057775"/>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Access control must apply at the context/retrieval layer, not only the UI</a:t>
            </a:r>
            <a:endParaRPr lang="en-US" sz="2100" dirty="0"/>
          </a:p>
        </p:txBody>
      </p:sp>
      <p:sp>
        <p:nvSpPr>
          <p:cNvPr id="11" name="Shape 9"/>
          <p:cNvSpPr/>
          <p:nvPr/>
        </p:nvSpPr>
        <p:spPr>
          <a:xfrm>
            <a:off x="952500" y="5915025"/>
            <a:ext cx="16383000" cy="942975"/>
          </a:xfrm>
          <a:prstGeom prst="roundRect">
            <a:avLst>
              <a:gd name="adj" fmla="val 16162"/>
            </a:avLst>
          </a:prstGeom>
          <a:solidFill>
            <a:srgbClr val="FFFFFF">
              <a:alpha val="2000"/>
            </a:srgbClr>
          </a:solidFill>
          <a:ln w="9525">
            <a:solidFill>
              <a:srgbClr val="2A2F3A"/>
            </a:solidFill>
            <a:prstDash val="solid"/>
          </a:ln>
        </p:spPr>
      </p:sp>
      <p:sp>
        <p:nvSpPr>
          <p:cNvPr id="12" name="Text 10"/>
          <p:cNvSpPr/>
          <p:nvPr/>
        </p:nvSpPr>
        <p:spPr>
          <a:xfrm>
            <a:off x="1266825" y="6229350"/>
            <a:ext cx="1624584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F5F7FB"/>
                </a:solidFill>
                <a:latin typeface="Arial" pitchFamily="34" charset="0"/>
                <a:ea typeface="Arial" pitchFamily="34" charset="-122"/>
                <a:cs typeface="Arial" pitchFamily="34" charset="-120"/>
              </a:rPr>
              <a:t>Data minimisation reduces the blast radius of a leakage vulnerability</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875261"/>
            <a:ext cx="18021300" cy="328613"/>
          </a:xfrm>
          <a:prstGeom prst="rect">
            <a:avLst/>
          </a:prstGeom>
          <a:noFill/>
          <a:ln/>
        </p:spPr>
        <p:txBody>
          <a:bodyPr wrap="square" lIns="25400" tIns="25400" rIns="25400" bIns="25400" rtlCol="0" anchor="t">
            <a:normAutofit/>
          </a:bodyPr>
          <a:lstStyle/>
          <a:p>
            <a:pPr algn="l" indent="0" marL="0">
              <a:buNone/>
            </a:pPr>
            <a:r>
              <a:rPr lang="en-US" sz="1950" b="1" spc="150" kern="0" dirty="0">
                <a:solidFill>
                  <a:srgbClr val="FF6A00"/>
                </a:solidFill>
                <a:latin typeface="Arial" pitchFamily="34" charset="0"/>
                <a:ea typeface="Arial" pitchFamily="34" charset="-122"/>
                <a:cs typeface="Arial" pitchFamily="34" charset="-120"/>
              </a:rPr>
              <a:t>NEXT</a:t>
            </a:r>
            <a:endParaRPr lang="en-US" sz="1950" dirty="0"/>
          </a:p>
        </p:txBody>
      </p:sp>
      <p:sp>
        <p:nvSpPr>
          <p:cNvPr id="4" name="Text 2"/>
          <p:cNvSpPr/>
          <p:nvPr/>
        </p:nvSpPr>
        <p:spPr>
          <a:xfrm>
            <a:off x="952500" y="4356274"/>
            <a:ext cx="16874490" cy="1379190"/>
          </a:xfrm>
          <a:prstGeom prst="rect">
            <a:avLst/>
          </a:prstGeom>
          <a:noFill/>
          <a:ln/>
        </p:spPr>
        <p:txBody>
          <a:bodyPr wrap="square" lIns="25400" tIns="25400" rIns="25400" bIns="25400" rtlCol="0" anchor="t">
            <a:normAutofit/>
          </a:bodyPr>
          <a:lstStyle/>
          <a:p>
            <a:pPr algn="l" indent="0" marL="0">
              <a:lnSpc>
                <a:spcPct val="95782"/>
              </a:lnSpc>
              <a:buNone/>
            </a:pPr>
            <a:r>
              <a:rPr lang="en-US" sz="4800" b="1" dirty="0">
                <a:solidFill>
                  <a:srgbClr val="F5F7FB"/>
                </a:solidFill>
                <a:latin typeface="Arial" pitchFamily="34" charset="0"/>
                <a:ea typeface="Arial" pitchFamily="34" charset="-122"/>
                <a:cs typeface="Arial" pitchFamily="34" charset="-120"/>
              </a:rPr>
              <a:t>Module 5: AI Application Security &amp; Backend Exposure</a:t>
            </a:r>
            <a:endParaRPr lang="en-US" sz="4800" dirty="0"/>
          </a:p>
        </p:txBody>
      </p:sp>
      <p:sp>
        <p:nvSpPr>
          <p:cNvPr id="5" name="Text 3"/>
          <p:cNvSpPr/>
          <p:nvPr/>
        </p:nvSpPr>
        <p:spPr>
          <a:xfrm>
            <a:off x="952500" y="5964064"/>
            <a:ext cx="18021300" cy="485775"/>
          </a:xfrm>
          <a:prstGeom prst="rect">
            <a:avLst/>
          </a:prstGeom>
          <a:noFill/>
          <a:ln/>
        </p:spPr>
        <p:txBody>
          <a:bodyPr wrap="square" lIns="25400" tIns="25400" rIns="25400" bIns="25400" rtlCol="0" anchor="t">
            <a:normAutofit/>
          </a:bodyPr>
          <a:lstStyle/>
          <a:p>
            <a:pPr algn="l" indent="0" marL="0">
              <a:buNone/>
            </a:pPr>
            <a:r>
              <a:rPr lang="en-US" sz="3000" dirty="0">
                <a:solidFill>
                  <a:srgbClr val="B8C0CF"/>
                </a:solidFill>
                <a:latin typeface="Arial" pitchFamily="34" charset="0"/>
                <a:ea typeface="Arial" pitchFamily="34" charset="-122"/>
                <a:cs typeface="Arial" pitchFamily="34" charset="-120"/>
              </a:rPr>
              <a:t>Complete the Module 4 PBQ, Flashcards, Cheat Sheet, and Quiz before continuing</a:t>
            </a:r>
            <a:endParaRPr lang="en-US" sz="3000" dirty="0"/>
          </a:p>
        </p:txBody>
      </p:sp>
      <p:sp>
        <p:nvSpPr>
          <p:cNvPr id="6" name="Text 4"/>
          <p:cNvSpPr/>
          <p:nvPr/>
        </p:nvSpPr>
        <p:spPr>
          <a:xfrm>
            <a:off x="952500" y="9696450"/>
            <a:ext cx="1956509" cy="285750"/>
          </a:xfrm>
          <a:prstGeom prst="rect">
            <a:avLst/>
          </a:prstGeom>
          <a:noFill/>
          <a:ln/>
        </p:spPr>
        <p:txBody>
          <a:bodyPr wrap="square" lIns="25400" tIns="25400" rIns="25400" bIns="25400" rtlCol="0" anchor="t">
            <a:normAutofit/>
          </a:bodyPr>
          <a:lstStyle/>
          <a:p>
            <a:pPr algn="l" indent="0" marL="0">
              <a:buNone/>
            </a:pPr>
            <a:r>
              <a:rPr lang="en-US" sz="1650" dirty="0">
                <a:solidFill>
                  <a:srgbClr val="8891A1"/>
                </a:solidFill>
                <a:latin typeface="Arial" pitchFamily="34" charset="0"/>
                <a:ea typeface="Arial" pitchFamily="34" charset="-122"/>
                <a:cs typeface="Arial" pitchFamily="34" charset="-120"/>
              </a:rPr>
              <a:t>My Cyber Academy</a:t>
            </a:r>
            <a:endParaRPr lang="en-US" sz="1650" dirty="0"/>
          </a:p>
        </p:txBody>
      </p:sp>
      <p:sp>
        <p:nvSpPr>
          <p:cNvPr id="7" name="Text 5"/>
          <p:cNvSpPr/>
          <p:nvPr/>
        </p:nvSpPr>
        <p:spPr>
          <a:xfrm>
            <a:off x="15278174" y="9696450"/>
            <a:ext cx="2263058" cy="285750"/>
          </a:xfrm>
          <a:prstGeom prst="rect">
            <a:avLst/>
          </a:prstGeom>
          <a:noFill/>
          <a:ln/>
        </p:spPr>
        <p:txBody>
          <a:bodyPr wrap="square" lIns="25400" tIns="25400" rIns="25400" bIns="25400" rtlCol="0" anchor="t">
            <a:normAutofit/>
          </a:bodyPr>
          <a:lstStyle/>
          <a:p>
            <a:pPr algn="l" indent="0" marL="0">
              <a:buNone/>
            </a:pPr>
            <a:r>
              <a:rPr lang="en-US" sz="1650" b="1" spc="150" kern="0" dirty="0">
                <a:solidFill>
                  <a:srgbClr val="FF6A00"/>
                </a:solidFill>
                <a:latin typeface="Arial" pitchFamily="34" charset="0"/>
                <a:ea typeface="Arial" pitchFamily="34" charset="-122"/>
                <a:cs typeface="Arial" pitchFamily="34" charset="-120"/>
              </a:rPr>
              <a:t>CYBER </a:t>
            </a:r>
            <a:pPr algn="l" indent="0" marL="0">
              <a:buNone/>
            </a:pPr>
            <a:r>
              <a:rPr lang="en-US" sz="1650" b="1" spc="150" kern="0" dirty="0">
                <a:solidFill>
                  <a:srgbClr val="8891A1"/>
                </a:solidFill>
                <a:latin typeface="Arial" pitchFamily="34" charset="0"/>
                <a:ea typeface="Arial" pitchFamily="34" charset="-122"/>
                <a:cs typeface="Arial" pitchFamily="34" charset="-120"/>
              </a:rPr>
              <a:t>ACADEMY</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2026-07-27T21:36:54Z</dcterms:created>
  <dcterms:modified xsi:type="dcterms:W3CDTF">2026-07-27T21:36:54Z</dcterms:modified>
</cp:coreProperties>
</file>