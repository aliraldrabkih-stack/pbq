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Module 9 covers the Model Information Leakage &amp; Model Inversion lab.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map to the Model Information Leakage &amp; Model Inversion lab and PBQ.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Define model information leakage broadly before narrowing to specific mechanisms.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overfitting as the underlying cause of much leakage risk.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module's headline lab technique.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membership inference at an awareness level, not deep technical depth.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Discuss artefacts as a practical, easy-to-find risk category.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Connect this back to sensitive data disclosure themes from Module 4.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Frame privacy as a distinct concern from confidentiality of application data.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Discuss a specific, exam-relevant scenario connecting model weakness to auth bypass.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Bridge into the Model Information Leakage &amp; Model Inversion lab.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Practise explaining leakage risk in plain, reportable language.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Practise the controlled lab technique itself.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with reporting-focused communication skill.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Point learners to the hands-on lab that accompanies this module.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Remind learners of assessment weighting to set revision priorities.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Pose this question aloud; reveal the answer after discussion.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Recap the topics and four practical skills before moving to Module 10.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the module and preview Module 10, the capstone module.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C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FF6A00">
                  <a:alpha val="16000"/>
                </a:srgbClr>
              </a:gs>
              <a:gs pos="50000">
                <a:srgbClr val="FF6A00">
                  <a:alpha val="0"/>
                </a:srgbClr>
              </a:gs>
            </a:gsLst>
            <a:path path="circle">
              <a:fillToRect l="0" t="0" r="100000" b="100000"/>
            </a:path>
          </a:gradFill>
          <a:ln/>
        </p:spPr>
      </p:sp>
      <p:sp>
        <p:nvSpPr>
          <p:cNvPr id="3" name="Text 1"/>
          <p:cNvSpPr/>
          <p:nvPr/>
        </p:nvSpPr>
        <p:spPr>
          <a:xfrm>
            <a:off x="952500" y="3846686"/>
            <a:ext cx="18021300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150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SECURITY PRACTITIONER · MODULE 9 OF 10</a:t>
            </a:r>
            <a:endParaRPr lang="en-US" sz="1950" dirty="0"/>
          </a:p>
        </p:txBody>
      </p:sp>
      <p:sp>
        <p:nvSpPr>
          <p:cNvPr id="4" name="Text 2"/>
          <p:cNvSpPr/>
          <p:nvPr/>
        </p:nvSpPr>
        <p:spPr>
          <a:xfrm>
            <a:off x="952500" y="4365799"/>
            <a:ext cx="16874490" cy="1398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1538"/>
              </a:lnSpc>
              <a:buNone/>
            </a:pPr>
            <a:r>
              <a:rPr lang="en-US" sz="510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Leakage, Model Inversion &amp; Privacy Risks</a:t>
            </a:r>
            <a:endParaRPr lang="en-US" sz="5100" dirty="0"/>
          </a:p>
        </p:txBody>
      </p:sp>
      <p:sp>
        <p:nvSpPr>
          <p:cNvPr id="5" name="Text 3"/>
          <p:cNvSpPr/>
          <p:nvPr/>
        </p:nvSpPr>
        <p:spPr>
          <a:xfrm>
            <a:off x="952500" y="5992639"/>
            <a:ext cx="18021300" cy="4857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000" dirty="0">
                <a:solidFill>
                  <a:srgbClr val="B8C0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AI and ML models may leak information about training data or internal logic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952500" y="9696450"/>
            <a:ext cx="1956509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8891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 Cyber Academy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15278174" y="9696450"/>
            <a:ext cx="2263058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150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CYBER </a:t>
            </a:r>
            <a:pPr algn="l" indent="0" marL="0">
              <a:buNone/>
            </a:pPr>
            <a:r>
              <a:rPr lang="en-US" sz="1650" b="1" spc="150" kern="0" dirty="0">
                <a:solidFill>
                  <a:srgbClr val="8891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ACADEMY</a:t>
            </a:r>
            <a:endParaRPr lang="en-US" sz="16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C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FF6A00">
                  <a:alpha val="16000"/>
                </a:srgbClr>
              </a:gs>
              <a:gs pos="50000">
                <a:srgbClr val="FF6A00">
                  <a:alpha val="0"/>
                </a:srgbClr>
              </a:gs>
            </a:gsLst>
            <a:path path="circle">
              <a:fillToRect l="0" t="0" r="100000" b="100000"/>
            </a:path>
          </a:gradFill>
          <a:ln/>
        </p:spPr>
      </p:sp>
      <p:sp>
        <p:nvSpPr>
          <p:cNvPr id="3" name="Text 1"/>
          <p:cNvSpPr/>
          <p:nvPr/>
        </p:nvSpPr>
        <p:spPr>
          <a:xfrm>
            <a:off x="952500" y="857250"/>
            <a:ext cx="18021300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150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LEARNING OBJECTIVES</a:t>
            </a:r>
            <a:endParaRPr lang="en-US" sz="1950" dirty="0"/>
          </a:p>
        </p:txBody>
      </p:sp>
      <p:sp>
        <p:nvSpPr>
          <p:cNvPr id="4" name="Text 2"/>
          <p:cNvSpPr/>
          <p:nvPr/>
        </p:nvSpPr>
        <p:spPr>
          <a:xfrm>
            <a:off x="952500" y="1300163"/>
            <a:ext cx="18021300" cy="7572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By the end of this module, you will be able to</a:t>
            </a:r>
            <a:endParaRPr lang="en-US" sz="4800" dirty="0"/>
          </a:p>
        </p:txBody>
      </p:sp>
      <p:sp>
        <p:nvSpPr>
          <p:cNvPr id="5" name="Shape 3"/>
          <p:cNvSpPr/>
          <p:nvPr/>
        </p:nvSpPr>
        <p:spPr>
          <a:xfrm>
            <a:off x="952500" y="2438400"/>
            <a:ext cx="8058150" cy="966788"/>
          </a:xfrm>
          <a:prstGeom prst="roundRect">
            <a:avLst>
              <a:gd name="adj" fmla="val 15764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266825" y="2752725"/>
            <a:ext cx="7671244" cy="3762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Identify exposed model artefacts</a:t>
            </a:r>
            <a:endParaRPr lang="en-US" sz="2250" dirty="0"/>
          </a:p>
        </p:txBody>
      </p:sp>
      <p:sp>
        <p:nvSpPr>
          <p:cNvPr id="7" name="Shape 5"/>
          <p:cNvSpPr/>
          <p:nvPr/>
        </p:nvSpPr>
        <p:spPr>
          <a:xfrm>
            <a:off x="9277350" y="2438400"/>
            <a:ext cx="8058150" cy="966788"/>
          </a:xfrm>
          <a:prstGeom prst="roundRect">
            <a:avLst>
              <a:gd name="adj" fmla="val 15764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591675" y="2752725"/>
            <a:ext cx="7671244" cy="3762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Explain model leakage risks</a:t>
            </a:r>
            <a:endParaRPr lang="en-US" sz="2250" dirty="0"/>
          </a:p>
        </p:txBody>
      </p:sp>
      <p:sp>
        <p:nvSpPr>
          <p:cNvPr id="9" name="Shape 7"/>
          <p:cNvSpPr/>
          <p:nvPr/>
        </p:nvSpPr>
        <p:spPr>
          <a:xfrm>
            <a:off x="952500" y="3671888"/>
            <a:ext cx="8058150" cy="1304925"/>
          </a:xfrm>
          <a:prstGeom prst="roundRect">
            <a:avLst>
              <a:gd name="adj" fmla="val 11679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66825" y="3986213"/>
            <a:ext cx="7671244" cy="714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Perform basic model inversion-style analysis in a controlled lab</a:t>
            </a:r>
            <a:endParaRPr lang="en-US" sz="2250" dirty="0"/>
          </a:p>
        </p:txBody>
      </p:sp>
      <p:sp>
        <p:nvSpPr>
          <p:cNvPr id="11" name="Shape 9"/>
          <p:cNvSpPr/>
          <p:nvPr/>
        </p:nvSpPr>
        <p:spPr>
          <a:xfrm>
            <a:off x="9277350" y="3671888"/>
            <a:ext cx="8058150" cy="1304925"/>
          </a:xfrm>
          <a:prstGeom prst="roundRect">
            <a:avLst>
              <a:gd name="adj" fmla="val 11679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591675" y="3986213"/>
            <a:ext cx="7671244" cy="714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Communicate privacy and security impact</a:t>
            </a:r>
            <a:endParaRPr lang="en-US" sz="2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C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FF6A00">
                  <a:alpha val="16000"/>
                </a:srgbClr>
              </a:gs>
              <a:gs pos="50000">
                <a:srgbClr val="FF6A00">
                  <a:alpha val="0"/>
                </a:srgbClr>
              </a:gs>
            </a:gsLst>
            <a:path path="circle">
              <a:fillToRect l="0" t="0" r="100000" b="100000"/>
            </a:path>
          </a:gradFill>
          <a:ln/>
        </p:spPr>
      </p:sp>
      <p:sp>
        <p:nvSpPr>
          <p:cNvPr id="3" name="Text 1"/>
          <p:cNvSpPr/>
          <p:nvPr/>
        </p:nvSpPr>
        <p:spPr>
          <a:xfrm>
            <a:off x="952500" y="857250"/>
            <a:ext cx="18021300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150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TOPIC 1</a:t>
            </a:r>
            <a:endParaRPr lang="en-US" sz="1950" dirty="0"/>
          </a:p>
        </p:txBody>
      </p:sp>
      <p:sp>
        <p:nvSpPr>
          <p:cNvPr id="4" name="Text 2"/>
          <p:cNvSpPr/>
          <p:nvPr/>
        </p:nvSpPr>
        <p:spPr>
          <a:xfrm>
            <a:off x="952500" y="1300163"/>
            <a:ext cx="18021300" cy="7572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Information Leakage</a:t>
            </a:r>
            <a:endParaRPr lang="en-US" sz="4800" dirty="0"/>
          </a:p>
        </p:txBody>
      </p:sp>
      <p:sp>
        <p:nvSpPr>
          <p:cNvPr id="5" name="Shape 3"/>
          <p:cNvSpPr/>
          <p:nvPr/>
        </p:nvSpPr>
        <p:spPr>
          <a:xfrm>
            <a:off x="952500" y="2438400"/>
            <a:ext cx="16383000" cy="1543050"/>
          </a:xfrm>
          <a:prstGeom prst="roundRect">
            <a:avLst>
              <a:gd name="adj" fmla="val 9877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266825" y="2752725"/>
            <a:ext cx="16245840" cy="952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9130"/>
              </a:lnSpc>
              <a:buNone/>
            </a:pPr>
            <a:r>
              <a:rPr lang="en-US" sz="2250" dirty="0">
                <a:solidFill>
                  <a:srgbClr val="B8C0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model can unintentionally reveal details about the data it was trained on, or about its own internal configuration, through what it outputs.</a:t>
            </a:r>
            <a:endParaRPr lang="en-US" sz="2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C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FF6A00">
                  <a:alpha val="16000"/>
                </a:srgbClr>
              </a:gs>
              <a:gs pos="50000">
                <a:srgbClr val="FF6A00">
                  <a:alpha val="0"/>
                </a:srgbClr>
              </a:gs>
            </a:gsLst>
            <a:path path="circle">
              <a:fillToRect l="0" t="0" r="100000" b="100000"/>
            </a:path>
          </a:gradFill>
          <a:ln/>
        </p:spPr>
      </p:sp>
      <p:sp>
        <p:nvSpPr>
          <p:cNvPr id="3" name="Text 1"/>
          <p:cNvSpPr/>
          <p:nvPr/>
        </p:nvSpPr>
        <p:spPr>
          <a:xfrm>
            <a:off x="952500" y="857250"/>
            <a:ext cx="18021300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150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TOPIC 2</a:t>
            </a:r>
            <a:endParaRPr lang="en-US" sz="1950" dirty="0"/>
          </a:p>
        </p:txBody>
      </p:sp>
      <p:sp>
        <p:nvSpPr>
          <p:cNvPr id="4" name="Text 2"/>
          <p:cNvSpPr/>
          <p:nvPr/>
        </p:nvSpPr>
        <p:spPr>
          <a:xfrm>
            <a:off x="952500" y="1300163"/>
            <a:ext cx="18021300" cy="7572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Overfitting Risk</a:t>
            </a:r>
            <a:endParaRPr lang="en-US" sz="4800" dirty="0"/>
          </a:p>
        </p:txBody>
      </p:sp>
      <p:sp>
        <p:nvSpPr>
          <p:cNvPr id="5" name="Shape 3"/>
          <p:cNvSpPr/>
          <p:nvPr/>
        </p:nvSpPr>
        <p:spPr>
          <a:xfrm>
            <a:off x="952500" y="2438400"/>
            <a:ext cx="16383000" cy="1543050"/>
          </a:xfrm>
          <a:prstGeom prst="roundRect">
            <a:avLst>
              <a:gd name="adj" fmla="val 9877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266825" y="2752725"/>
            <a:ext cx="16245840" cy="952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9130"/>
              </a:lnSpc>
              <a:buNone/>
            </a:pPr>
            <a:r>
              <a:rPr lang="en-US" sz="2250" dirty="0">
                <a:solidFill>
                  <a:srgbClr val="B8C0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model that memorises rather than generalises from its training data is more likely to reproduce specific training examples verbatim in its output.</a:t>
            </a:r>
            <a:endParaRPr lang="en-US" sz="2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C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FF6A00">
                  <a:alpha val="16000"/>
                </a:srgbClr>
              </a:gs>
              <a:gs pos="50000">
                <a:srgbClr val="FF6A00">
                  <a:alpha val="0"/>
                </a:srgbClr>
              </a:gs>
            </a:gsLst>
            <a:path path="circle">
              <a:fillToRect l="0" t="0" r="100000" b="100000"/>
            </a:path>
          </a:gradFill>
          <a:ln/>
        </p:spPr>
      </p:sp>
      <p:sp>
        <p:nvSpPr>
          <p:cNvPr id="3" name="Text 1"/>
          <p:cNvSpPr/>
          <p:nvPr/>
        </p:nvSpPr>
        <p:spPr>
          <a:xfrm>
            <a:off x="952500" y="857250"/>
            <a:ext cx="18021300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150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TOPIC 3</a:t>
            </a:r>
            <a:endParaRPr lang="en-US" sz="1950" dirty="0"/>
          </a:p>
        </p:txBody>
      </p:sp>
      <p:sp>
        <p:nvSpPr>
          <p:cNvPr id="4" name="Text 2"/>
          <p:cNvSpPr/>
          <p:nvPr/>
        </p:nvSpPr>
        <p:spPr>
          <a:xfrm>
            <a:off x="952500" y="1300163"/>
            <a:ext cx="18021300" cy="7572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Inversion</a:t>
            </a:r>
            <a:endParaRPr lang="en-US" sz="4800" dirty="0"/>
          </a:p>
        </p:txBody>
      </p:sp>
      <p:sp>
        <p:nvSpPr>
          <p:cNvPr id="5" name="Shape 3"/>
          <p:cNvSpPr/>
          <p:nvPr/>
        </p:nvSpPr>
        <p:spPr>
          <a:xfrm>
            <a:off x="952500" y="2438400"/>
            <a:ext cx="16383000" cy="1543050"/>
          </a:xfrm>
          <a:prstGeom prst="roundRect">
            <a:avLst>
              <a:gd name="adj" fmla="val 9877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266825" y="2752725"/>
            <a:ext cx="16245840" cy="952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9130"/>
              </a:lnSpc>
              <a:buNone/>
            </a:pPr>
            <a:r>
              <a:rPr lang="en-US" sz="2250" dirty="0">
                <a:solidFill>
                  <a:srgbClr val="B8C0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technique that attempts to reconstruct characteristics of a model's training data by carefully analysing its outputs across many queries.</a:t>
            </a:r>
            <a:endParaRPr lang="en-US" sz="2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C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FF6A00">
                  <a:alpha val="16000"/>
                </a:srgbClr>
              </a:gs>
              <a:gs pos="50000">
                <a:srgbClr val="FF6A00">
                  <a:alpha val="0"/>
                </a:srgbClr>
              </a:gs>
            </a:gsLst>
            <a:path path="circle">
              <a:fillToRect l="0" t="0" r="100000" b="100000"/>
            </a:path>
          </a:gradFill>
          <a:ln/>
        </p:spPr>
      </p:sp>
      <p:sp>
        <p:nvSpPr>
          <p:cNvPr id="3" name="Text 1"/>
          <p:cNvSpPr/>
          <p:nvPr/>
        </p:nvSpPr>
        <p:spPr>
          <a:xfrm>
            <a:off x="952500" y="857250"/>
            <a:ext cx="18021300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150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TOPIC 4</a:t>
            </a:r>
            <a:endParaRPr lang="en-US" sz="1950" dirty="0"/>
          </a:p>
        </p:txBody>
      </p:sp>
      <p:sp>
        <p:nvSpPr>
          <p:cNvPr id="4" name="Text 2"/>
          <p:cNvSpPr/>
          <p:nvPr/>
        </p:nvSpPr>
        <p:spPr>
          <a:xfrm>
            <a:off x="952500" y="1300163"/>
            <a:ext cx="18021300" cy="7572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Membership Inference Awareness</a:t>
            </a:r>
            <a:endParaRPr lang="en-US" sz="4800" dirty="0"/>
          </a:p>
        </p:txBody>
      </p:sp>
      <p:sp>
        <p:nvSpPr>
          <p:cNvPr id="5" name="Shape 3"/>
          <p:cNvSpPr/>
          <p:nvPr/>
        </p:nvSpPr>
        <p:spPr>
          <a:xfrm>
            <a:off x="952500" y="2438400"/>
            <a:ext cx="16383000" cy="1543050"/>
          </a:xfrm>
          <a:prstGeom prst="roundRect">
            <a:avLst>
              <a:gd name="adj" fmla="val 9877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266825" y="2752725"/>
            <a:ext cx="16245840" cy="952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9130"/>
              </a:lnSpc>
              <a:buNone/>
            </a:pPr>
            <a:r>
              <a:rPr lang="en-US" sz="2250" dirty="0">
                <a:solidFill>
                  <a:srgbClr val="B8C0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technique for determining whether a specific record was part of a model's training set — a privacy concern even without recovering the data itself.</a:t>
            </a:r>
            <a:endParaRPr lang="en-US" sz="2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C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FF6A00">
                  <a:alpha val="16000"/>
                </a:srgbClr>
              </a:gs>
              <a:gs pos="50000">
                <a:srgbClr val="FF6A00">
                  <a:alpha val="0"/>
                </a:srgbClr>
              </a:gs>
            </a:gsLst>
            <a:path path="circle">
              <a:fillToRect l="0" t="0" r="100000" b="100000"/>
            </a:path>
          </a:gradFill>
          <a:ln/>
        </p:spPr>
      </p:sp>
      <p:sp>
        <p:nvSpPr>
          <p:cNvPr id="3" name="Text 1"/>
          <p:cNvSpPr/>
          <p:nvPr/>
        </p:nvSpPr>
        <p:spPr>
          <a:xfrm>
            <a:off x="952500" y="857250"/>
            <a:ext cx="18021300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150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TOPIC 5</a:t>
            </a:r>
            <a:endParaRPr lang="en-US" sz="1950" dirty="0"/>
          </a:p>
        </p:txBody>
      </p:sp>
      <p:sp>
        <p:nvSpPr>
          <p:cNvPr id="4" name="Text 2"/>
          <p:cNvSpPr/>
          <p:nvPr/>
        </p:nvSpPr>
        <p:spPr>
          <a:xfrm>
            <a:off x="952500" y="1300163"/>
            <a:ext cx="18021300" cy="7572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Exposed Model Artefacts</a:t>
            </a:r>
            <a:endParaRPr lang="en-US" sz="4800" dirty="0"/>
          </a:p>
        </p:txBody>
      </p:sp>
      <p:sp>
        <p:nvSpPr>
          <p:cNvPr id="5" name="Shape 3"/>
          <p:cNvSpPr/>
          <p:nvPr/>
        </p:nvSpPr>
        <p:spPr>
          <a:xfrm>
            <a:off x="952500" y="2438400"/>
            <a:ext cx="5334000" cy="895350"/>
          </a:xfrm>
          <a:prstGeom prst="roundRect">
            <a:avLst>
              <a:gd name="adj" fmla="val 17021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31558" y="2752725"/>
            <a:ext cx="5175885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weights/files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477000" y="2438400"/>
            <a:ext cx="5334000" cy="895350"/>
          </a:xfrm>
          <a:prstGeom prst="roundRect">
            <a:avLst>
              <a:gd name="adj" fmla="val 17021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56058" y="2752725"/>
            <a:ext cx="5175885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Training configuration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12001500" y="2438400"/>
            <a:ext cx="5334000" cy="895350"/>
          </a:xfrm>
          <a:prstGeom prst="roundRect">
            <a:avLst>
              <a:gd name="adj" fmla="val 17021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080558" y="2752725"/>
            <a:ext cx="5175885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Evaluation datasets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C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FF6A00">
                  <a:alpha val="16000"/>
                </a:srgbClr>
              </a:gs>
              <a:gs pos="50000">
                <a:srgbClr val="FF6A00">
                  <a:alpha val="0"/>
                </a:srgbClr>
              </a:gs>
            </a:gsLst>
            <a:path path="circle">
              <a:fillToRect l="0" t="0" r="100000" b="100000"/>
            </a:path>
          </a:gradFill>
          <a:ln/>
        </p:spPr>
      </p:sp>
      <p:sp>
        <p:nvSpPr>
          <p:cNvPr id="3" name="Text 1"/>
          <p:cNvSpPr/>
          <p:nvPr/>
        </p:nvSpPr>
        <p:spPr>
          <a:xfrm>
            <a:off x="952500" y="857250"/>
            <a:ext cx="18021300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150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TOPIC 6</a:t>
            </a:r>
            <a:endParaRPr lang="en-US" sz="1950" dirty="0"/>
          </a:p>
        </p:txBody>
      </p:sp>
      <p:sp>
        <p:nvSpPr>
          <p:cNvPr id="4" name="Text 2"/>
          <p:cNvSpPr/>
          <p:nvPr/>
        </p:nvSpPr>
        <p:spPr>
          <a:xfrm>
            <a:off x="952500" y="1300163"/>
            <a:ext cx="18021300" cy="7572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Sensitive Training Data Exposure</a:t>
            </a:r>
            <a:endParaRPr lang="en-US" sz="4800" dirty="0"/>
          </a:p>
        </p:txBody>
      </p:sp>
      <p:sp>
        <p:nvSpPr>
          <p:cNvPr id="5" name="Shape 3"/>
          <p:cNvSpPr/>
          <p:nvPr/>
        </p:nvSpPr>
        <p:spPr>
          <a:xfrm>
            <a:off x="952500" y="2438400"/>
            <a:ext cx="16383000" cy="1543050"/>
          </a:xfrm>
          <a:prstGeom prst="roundRect">
            <a:avLst>
              <a:gd name="adj" fmla="val 9877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266825" y="2752725"/>
            <a:ext cx="16245840" cy="952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9130"/>
              </a:lnSpc>
              <a:buNone/>
            </a:pPr>
            <a:r>
              <a:rPr lang="en-US" sz="2250" dirty="0">
                <a:solidFill>
                  <a:srgbClr val="B8C0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training data included PII or confidential material without proper handling, that sensitive content can resurface through leakage or inversion.</a:t>
            </a:r>
            <a:endParaRPr lang="en-US" sz="2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C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FF6A00">
                  <a:alpha val="16000"/>
                </a:srgbClr>
              </a:gs>
              <a:gs pos="50000">
                <a:srgbClr val="FF6A00">
                  <a:alpha val="0"/>
                </a:srgbClr>
              </a:gs>
            </a:gsLst>
            <a:path path="circle">
              <a:fillToRect l="0" t="0" r="100000" b="100000"/>
            </a:path>
          </a:gradFill>
          <a:ln/>
        </p:spPr>
      </p:sp>
      <p:sp>
        <p:nvSpPr>
          <p:cNvPr id="3" name="Text 1"/>
          <p:cNvSpPr/>
          <p:nvPr/>
        </p:nvSpPr>
        <p:spPr>
          <a:xfrm>
            <a:off x="952500" y="857250"/>
            <a:ext cx="18021300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150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TOPIC 7</a:t>
            </a:r>
            <a:endParaRPr lang="en-US" sz="1950" dirty="0"/>
          </a:p>
        </p:txBody>
      </p:sp>
      <p:sp>
        <p:nvSpPr>
          <p:cNvPr id="4" name="Text 2"/>
          <p:cNvSpPr/>
          <p:nvPr/>
        </p:nvSpPr>
        <p:spPr>
          <a:xfrm>
            <a:off x="952500" y="1300163"/>
            <a:ext cx="18021300" cy="7572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Privacy Concerns</a:t>
            </a:r>
            <a:endParaRPr lang="en-US" sz="4800" dirty="0"/>
          </a:p>
        </p:txBody>
      </p:sp>
      <p:sp>
        <p:nvSpPr>
          <p:cNvPr id="5" name="Shape 3"/>
          <p:cNvSpPr/>
          <p:nvPr/>
        </p:nvSpPr>
        <p:spPr>
          <a:xfrm>
            <a:off x="952500" y="2438400"/>
            <a:ext cx="16383000" cy="1543050"/>
          </a:xfrm>
          <a:prstGeom prst="roundRect">
            <a:avLst>
              <a:gd name="adj" fmla="val 9877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266825" y="2752725"/>
            <a:ext cx="16245840" cy="952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9130"/>
              </a:lnSpc>
              <a:buNone/>
            </a:pPr>
            <a:r>
              <a:rPr lang="en-US" sz="2250" dirty="0">
                <a:solidFill>
                  <a:srgbClr val="B8C0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Beyond data confidentiality, individuals whose data was used in training have a privacy interest in not being re-identifiable through the model.</a:t>
            </a:r>
            <a:endParaRPr lang="en-US" sz="2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C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FF6A00">
                  <a:alpha val="16000"/>
                </a:srgbClr>
              </a:gs>
              <a:gs pos="50000">
                <a:srgbClr val="FF6A00">
                  <a:alpha val="0"/>
                </a:srgbClr>
              </a:gs>
            </a:gsLst>
            <a:path path="circle">
              <a:fillToRect l="0" t="0" r="100000" b="100000"/>
            </a:path>
          </a:gradFill>
          <a:ln/>
        </p:spPr>
      </p:sp>
      <p:sp>
        <p:nvSpPr>
          <p:cNvPr id="3" name="Text 1"/>
          <p:cNvSpPr/>
          <p:nvPr/>
        </p:nvSpPr>
        <p:spPr>
          <a:xfrm>
            <a:off x="952500" y="857250"/>
            <a:ext cx="18021300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150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TOPIC 8</a:t>
            </a:r>
            <a:endParaRPr lang="en-US" sz="1950" dirty="0"/>
          </a:p>
        </p:txBody>
      </p:sp>
      <p:sp>
        <p:nvSpPr>
          <p:cNvPr id="4" name="Text 2"/>
          <p:cNvSpPr/>
          <p:nvPr/>
        </p:nvSpPr>
        <p:spPr>
          <a:xfrm>
            <a:off x="952500" y="1300163"/>
            <a:ext cx="18021300" cy="7572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Authentication Bypass Through Model Weakness</a:t>
            </a:r>
            <a:endParaRPr lang="en-US" sz="4800" dirty="0"/>
          </a:p>
        </p:txBody>
      </p:sp>
      <p:sp>
        <p:nvSpPr>
          <p:cNvPr id="5" name="Shape 3"/>
          <p:cNvSpPr/>
          <p:nvPr/>
        </p:nvSpPr>
        <p:spPr>
          <a:xfrm>
            <a:off x="952500" y="2438400"/>
            <a:ext cx="16383000" cy="1543050"/>
          </a:xfrm>
          <a:prstGeom prst="roundRect">
            <a:avLst>
              <a:gd name="adj" fmla="val 9877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266825" y="2752725"/>
            <a:ext cx="16245840" cy="952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9130"/>
              </a:lnSpc>
              <a:buNone/>
            </a:pPr>
            <a:r>
              <a:rPr lang="en-US" sz="2250" dirty="0">
                <a:solidFill>
                  <a:srgbClr val="B8C0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model used as part of an identity-verification flow (e.g. a classifier confidence threshold) may be manipulated to approve unauthorised access.</a:t>
            </a:r>
            <a:endParaRPr lang="en-US" sz="22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C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FF6A00">
                  <a:alpha val="16000"/>
                </a:srgbClr>
              </a:gs>
              <a:gs pos="50000">
                <a:srgbClr val="FF6A00">
                  <a:alpha val="0"/>
                </a:srgbClr>
              </a:gs>
            </a:gsLst>
            <a:path path="circle">
              <a:fillToRect l="0" t="0" r="100000" b="100000"/>
            </a:path>
          </a:gradFill>
          <a:ln/>
        </p:spPr>
      </p:sp>
      <p:sp>
        <p:nvSpPr>
          <p:cNvPr id="3" name="Text 1"/>
          <p:cNvSpPr/>
          <p:nvPr/>
        </p:nvSpPr>
        <p:spPr>
          <a:xfrm>
            <a:off x="952500" y="857250"/>
            <a:ext cx="18021300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150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PRACTICAL SKILL · LAB: MODEL INFORMATION LEAKAGE &amp; MODEL INVERSION</a:t>
            </a:r>
            <a:endParaRPr lang="en-US" sz="1950" dirty="0"/>
          </a:p>
        </p:txBody>
      </p:sp>
      <p:sp>
        <p:nvSpPr>
          <p:cNvPr id="4" name="Text 2"/>
          <p:cNvSpPr/>
          <p:nvPr/>
        </p:nvSpPr>
        <p:spPr>
          <a:xfrm>
            <a:off x="952500" y="1300163"/>
            <a:ext cx="18021300" cy="7572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Identifying Exposed Model Artefacts</a:t>
            </a:r>
            <a:endParaRPr lang="en-US" sz="4800" dirty="0"/>
          </a:p>
        </p:txBody>
      </p:sp>
      <p:sp>
        <p:nvSpPr>
          <p:cNvPr id="5" name="Shape 3"/>
          <p:cNvSpPr/>
          <p:nvPr/>
        </p:nvSpPr>
        <p:spPr>
          <a:xfrm>
            <a:off x="952500" y="2438400"/>
            <a:ext cx="16383000" cy="1543050"/>
          </a:xfrm>
          <a:prstGeom prst="roundRect">
            <a:avLst>
              <a:gd name="adj" fmla="val 9877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266825" y="2752725"/>
            <a:ext cx="16245840" cy="952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9130"/>
              </a:lnSpc>
              <a:buNone/>
            </a:pPr>
            <a:r>
              <a:rPr lang="en-US" sz="2250" dirty="0">
                <a:solidFill>
                  <a:srgbClr val="B8C0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 whether model files, configuration, or evaluation data are exposed through misconfigured storage, endpoints, or repositories.</a:t>
            </a:r>
            <a:endParaRPr lang="en-US" sz="22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C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FF6A00">
                  <a:alpha val="16000"/>
                </a:srgbClr>
              </a:gs>
              <a:gs pos="50000">
                <a:srgbClr val="FF6A00">
                  <a:alpha val="0"/>
                </a:srgbClr>
              </a:gs>
            </a:gsLst>
            <a:path path="circle">
              <a:fillToRect l="0" t="0" r="100000" b="100000"/>
            </a:path>
          </a:gradFill>
          <a:ln/>
        </p:spPr>
      </p:sp>
      <p:sp>
        <p:nvSpPr>
          <p:cNvPr id="3" name="Text 1"/>
          <p:cNvSpPr/>
          <p:nvPr/>
        </p:nvSpPr>
        <p:spPr>
          <a:xfrm>
            <a:off x="952500" y="857250"/>
            <a:ext cx="18021300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150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PRACTICAL SKILL</a:t>
            </a:r>
            <a:endParaRPr lang="en-US" sz="1950" dirty="0"/>
          </a:p>
        </p:txBody>
      </p:sp>
      <p:sp>
        <p:nvSpPr>
          <p:cNvPr id="4" name="Text 2"/>
          <p:cNvSpPr/>
          <p:nvPr/>
        </p:nvSpPr>
        <p:spPr>
          <a:xfrm>
            <a:off x="952500" y="1300163"/>
            <a:ext cx="18021300" cy="7572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Explaining Model Leakage Risks</a:t>
            </a:r>
            <a:endParaRPr lang="en-US" sz="4800" dirty="0"/>
          </a:p>
        </p:txBody>
      </p:sp>
      <p:sp>
        <p:nvSpPr>
          <p:cNvPr id="5" name="Shape 3"/>
          <p:cNvSpPr/>
          <p:nvPr/>
        </p:nvSpPr>
        <p:spPr>
          <a:xfrm>
            <a:off x="952500" y="2438400"/>
            <a:ext cx="16383000" cy="1543050"/>
          </a:xfrm>
          <a:prstGeom prst="roundRect">
            <a:avLst>
              <a:gd name="adj" fmla="val 9877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266825" y="2752725"/>
            <a:ext cx="16245840" cy="952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9130"/>
              </a:lnSpc>
              <a:buNone/>
            </a:pPr>
            <a:r>
              <a:rPr lang="en-US" sz="2250" dirty="0">
                <a:solidFill>
                  <a:srgbClr val="B8C0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Given evidence of leakage, explain what information was exposed, how it could be obtained, and why it matters to the organisation.</a:t>
            </a:r>
            <a:endParaRPr lang="en-US" sz="22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C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FF6A00">
                  <a:alpha val="16000"/>
                </a:srgbClr>
              </a:gs>
              <a:gs pos="50000">
                <a:srgbClr val="FF6A00">
                  <a:alpha val="0"/>
                </a:srgbClr>
              </a:gs>
            </a:gsLst>
            <a:path path="circle">
              <a:fillToRect l="0" t="0" r="100000" b="100000"/>
            </a:path>
          </a:gradFill>
          <a:ln/>
        </p:spPr>
      </p:sp>
      <p:sp>
        <p:nvSpPr>
          <p:cNvPr id="3" name="Text 1"/>
          <p:cNvSpPr/>
          <p:nvPr/>
        </p:nvSpPr>
        <p:spPr>
          <a:xfrm>
            <a:off x="952500" y="857250"/>
            <a:ext cx="18021300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150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PRACTICAL SKILL</a:t>
            </a:r>
            <a:endParaRPr lang="en-US" sz="1950" dirty="0"/>
          </a:p>
        </p:txBody>
      </p:sp>
      <p:sp>
        <p:nvSpPr>
          <p:cNvPr id="4" name="Text 2"/>
          <p:cNvSpPr/>
          <p:nvPr/>
        </p:nvSpPr>
        <p:spPr>
          <a:xfrm>
            <a:off x="952500" y="1300163"/>
            <a:ext cx="18021300" cy="7572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Performing Basic Model Inversion-Style Analysis</a:t>
            </a:r>
            <a:endParaRPr lang="en-US" sz="4800" dirty="0"/>
          </a:p>
        </p:txBody>
      </p:sp>
      <p:sp>
        <p:nvSpPr>
          <p:cNvPr id="5" name="Shape 3"/>
          <p:cNvSpPr/>
          <p:nvPr/>
        </p:nvSpPr>
        <p:spPr>
          <a:xfrm>
            <a:off x="952500" y="2438400"/>
            <a:ext cx="16383000" cy="1085850"/>
          </a:xfrm>
          <a:prstGeom prst="roundRect">
            <a:avLst>
              <a:gd name="adj" fmla="val 14035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266825" y="2752725"/>
            <a:ext cx="1624584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9130"/>
              </a:lnSpc>
              <a:buNone/>
            </a:pPr>
            <a:r>
              <a:rPr lang="en-US" sz="2250" dirty="0">
                <a:solidFill>
                  <a:srgbClr val="B8C0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Within a controlled lab, query a target model systematically to attempt to reconstruct characteristics of its training data.</a:t>
            </a:r>
            <a:endParaRPr lang="en-US" sz="22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C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FF6A00">
                  <a:alpha val="16000"/>
                </a:srgbClr>
              </a:gs>
              <a:gs pos="50000">
                <a:srgbClr val="FF6A00">
                  <a:alpha val="0"/>
                </a:srgbClr>
              </a:gs>
            </a:gsLst>
            <a:path path="circle">
              <a:fillToRect l="0" t="0" r="100000" b="100000"/>
            </a:path>
          </a:gradFill>
          <a:ln/>
        </p:spPr>
      </p:sp>
      <p:sp>
        <p:nvSpPr>
          <p:cNvPr id="3" name="Text 1"/>
          <p:cNvSpPr/>
          <p:nvPr/>
        </p:nvSpPr>
        <p:spPr>
          <a:xfrm>
            <a:off x="952500" y="857250"/>
            <a:ext cx="18021300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150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PRACTICAL SKILL</a:t>
            </a:r>
            <a:endParaRPr lang="en-US" sz="1950" dirty="0"/>
          </a:p>
        </p:txBody>
      </p:sp>
      <p:sp>
        <p:nvSpPr>
          <p:cNvPr id="4" name="Text 2"/>
          <p:cNvSpPr/>
          <p:nvPr/>
        </p:nvSpPr>
        <p:spPr>
          <a:xfrm>
            <a:off x="952500" y="1300163"/>
            <a:ext cx="18021300" cy="7572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Communicating Privacy and Security Impact</a:t>
            </a:r>
            <a:endParaRPr lang="en-US" sz="4800" dirty="0"/>
          </a:p>
        </p:txBody>
      </p:sp>
      <p:sp>
        <p:nvSpPr>
          <p:cNvPr id="5" name="Shape 3"/>
          <p:cNvSpPr/>
          <p:nvPr/>
        </p:nvSpPr>
        <p:spPr>
          <a:xfrm>
            <a:off x="952500" y="2438400"/>
            <a:ext cx="16383000" cy="1543050"/>
          </a:xfrm>
          <a:prstGeom prst="roundRect">
            <a:avLst>
              <a:gd name="adj" fmla="val 9877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266825" y="2752725"/>
            <a:ext cx="16245840" cy="952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9130"/>
              </a:lnSpc>
              <a:buNone/>
            </a:pPr>
            <a:r>
              <a:rPr lang="en-US" sz="2250" dirty="0">
                <a:solidFill>
                  <a:srgbClr val="B8C0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Translate a technical leakage or inversion finding into a clear statement of privacy and business impact for a non-technical stakeholder.</a:t>
            </a:r>
            <a:endParaRPr lang="en-US" sz="22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C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FF6A00">
                  <a:alpha val="16000"/>
                </a:srgbClr>
              </a:gs>
              <a:gs pos="50000">
                <a:srgbClr val="FF6A00">
                  <a:alpha val="0"/>
                </a:srgbClr>
              </a:gs>
            </a:gsLst>
            <a:path path="circle">
              <a:fillToRect l="0" t="0" r="100000" b="100000"/>
            </a:path>
          </a:gradFill>
          <a:ln/>
        </p:spPr>
      </p:sp>
      <p:sp>
        <p:nvSpPr>
          <p:cNvPr id="3" name="Text 1"/>
          <p:cNvSpPr/>
          <p:nvPr/>
        </p:nvSpPr>
        <p:spPr>
          <a:xfrm>
            <a:off x="952500" y="4291013"/>
            <a:ext cx="18021300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150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 ALIGNMENT</a:t>
            </a:r>
            <a:endParaRPr lang="en-US" sz="1950" dirty="0"/>
          </a:p>
        </p:txBody>
      </p:sp>
      <p:sp>
        <p:nvSpPr>
          <p:cNvPr id="4" name="Text 2"/>
          <p:cNvSpPr/>
          <p:nvPr/>
        </p:nvSpPr>
        <p:spPr>
          <a:xfrm>
            <a:off x="952500" y="4733925"/>
            <a:ext cx="18021300" cy="7572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Information Leakage &amp; Model Inversion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952500" y="5643563"/>
            <a:ext cx="18021300" cy="4857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000" dirty="0">
                <a:solidFill>
                  <a:srgbClr val="B8C0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Existing lab · Hard difficulty · Syllabus area: Model Privacy &amp; Leakage</a:t>
            </a:r>
            <a:endParaRPr lang="en-US" sz="3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C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FF6A00">
                  <a:alpha val="16000"/>
                </a:srgbClr>
              </a:gs>
              <a:gs pos="50000">
                <a:srgbClr val="FF6A00">
                  <a:alpha val="0"/>
                </a:srgbClr>
              </a:gs>
            </a:gsLst>
            <a:path path="circle">
              <a:fillToRect l="0" t="0" r="100000" b="100000"/>
            </a:path>
          </a:gradFill>
          <a:ln/>
        </p:spPr>
      </p:sp>
      <p:sp>
        <p:nvSpPr>
          <p:cNvPr id="3" name="Text 1"/>
          <p:cNvSpPr/>
          <p:nvPr/>
        </p:nvSpPr>
        <p:spPr>
          <a:xfrm>
            <a:off x="7175867" y="3793331"/>
            <a:ext cx="3936266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950" b="1" spc="150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ASSESSMENT WEIGHTING</a:t>
            </a:r>
            <a:endParaRPr lang="en-US" sz="1950" dirty="0"/>
          </a:p>
        </p:txBody>
      </p:sp>
      <p:sp>
        <p:nvSpPr>
          <p:cNvPr id="4" name="Text 2"/>
          <p:cNvSpPr/>
          <p:nvPr/>
        </p:nvSpPr>
        <p:spPr>
          <a:xfrm>
            <a:off x="7610274" y="4274344"/>
            <a:ext cx="3067452" cy="1752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86957"/>
              </a:lnSpc>
              <a:buNone/>
            </a:pPr>
            <a:r>
              <a:rPr lang="en-US" sz="13500" b="1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8%</a:t>
            </a:r>
            <a:endParaRPr lang="en-US" sz="13500" dirty="0"/>
          </a:p>
        </p:txBody>
      </p:sp>
      <p:sp>
        <p:nvSpPr>
          <p:cNvPr id="5" name="Text 3"/>
          <p:cNvSpPr/>
          <p:nvPr/>
        </p:nvSpPr>
        <p:spPr>
          <a:xfrm>
            <a:off x="5450272" y="6141244"/>
            <a:ext cx="7387456" cy="4857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3000" dirty="0">
                <a:solidFill>
                  <a:srgbClr val="B8C0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 the AI Security Practitioner certification</a:t>
            </a:r>
            <a:endParaRPr lang="en-US" sz="3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C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FF6A00">
                  <a:alpha val="16000"/>
                </a:srgbClr>
              </a:gs>
              <a:gs pos="50000">
                <a:srgbClr val="FF6A00">
                  <a:alpha val="0"/>
                </a:srgbClr>
              </a:gs>
            </a:gsLst>
            <a:path path="circle">
              <a:fillToRect l="0" t="0" r="100000" b="100000"/>
            </a:path>
          </a:gradFill>
          <a:ln/>
        </p:spPr>
      </p:sp>
      <p:sp>
        <p:nvSpPr>
          <p:cNvPr id="3" name="Text 1"/>
          <p:cNvSpPr/>
          <p:nvPr/>
        </p:nvSpPr>
        <p:spPr>
          <a:xfrm>
            <a:off x="952500" y="857250"/>
            <a:ext cx="18021300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150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KNOWLEDGE CHECK</a:t>
            </a:r>
            <a:endParaRPr lang="en-US" sz="1950" dirty="0"/>
          </a:p>
        </p:txBody>
      </p:sp>
      <p:sp>
        <p:nvSpPr>
          <p:cNvPr id="4" name="Text 2"/>
          <p:cNvSpPr/>
          <p:nvPr/>
        </p:nvSpPr>
        <p:spPr>
          <a:xfrm>
            <a:off x="952500" y="1300163"/>
            <a:ext cx="18021300" cy="7572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Quick Question</a:t>
            </a:r>
            <a:endParaRPr lang="en-US" sz="4800" dirty="0"/>
          </a:p>
        </p:txBody>
      </p:sp>
      <p:sp>
        <p:nvSpPr>
          <p:cNvPr id="5" name="Shape 3"/>
          <p:cNvSpPr/>
          <p:nvPr/>
        </p:nvSpPr>
        <p:spPr>
          <a:xfrm>
            <a:off x="952500" y="2362200"/>
            <a:ext cx="16383000" cy="3371850"/>
          </a:xfrm>
          <a:prstGeom prst="roundRect">
            <a:avLst>
              <a:gd name="adj" fmla="val 4520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266825" y="2676525"/>
            <a:ext cx="16245840" cy="2781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9130"/>
              </a:lnSpc>
              <a:buNone/>
            </a:pPr>
            <a:r>
              <a:rPr lang="en-US" sz="2250" dirty="0">
                <a:solidFill>
                  <a:srgbClr val="F5F7FB"/>
                </a:solidFill>
                <a:highlight>
                  <a:srgbClr val="FFFFFF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What is model inversion? </a:t>
            </a:r>
            <a:pPr algn="l" indent="0" marL="0">
              <a:lnSpc>
                <a:spcPct val="139130"/>
              </a:lnSpc>
              <a:buNone/>
            </a:pPr>
            <a:r>
              <a:rPr lang="en-US" sz="2250" dirty="0">
                <a:solidFill>
                  <a:srgbClr val="B8C0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Flipping a model's output upside down B. A technique attempting to reconstruct training data characteristics by analysing model outputs C. Reversing a software deployment D. A billing term used by cloud providers</a:t>
            </a:r>
            <a:endParaRPr lang="en-US" sz="22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C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FF6A00">
                  <a:alpha val="16000"/>
                </a:srgbClr>
              </a:gs>
              <a:gs pos="50000">
                <a:srgbClr val="FF6A00">
                  <a:alpha val="0"/>
                </a:srgbClr>
              </a:gs>
            </a:gsLst>
            <a:path path="circle">
              <a:fillToRect l="0" t="0" r="100000" b="100000"/>
            </a:path>
          </a:gradFill>
          <a:ln/>
        </p:spPr>
      </p:sp>
      <p:sp>
        <p:nvSpPr>
          <p:cNvPr id="3" name="Text 1"/>
          <p:cNvSpPr/>
          <p:nvPr/>
        </p:nvSpPr>
        <p:spPr>
          <a:xfrm>
            <a:off x="952500" y="857250"/>
            <a:ext cx="18021300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150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SUMMARY</a:t>
            </a:r>
            <a:endParaRPr lang="en-US" sz="1950" dirty="0"/>
          </a:p>
        </p:txBody>
      </p:sp>
      <p:sp>
        <p:nvSpPr>
          <p:cNvPr id="4" name="Text 2"/>
          <p:cNvSpPr/>
          <p:nvPr/>
        </p:nvSpPr>
        <p:spPr>
          <a:xfrm>
            <a:off x="952500" y="1300163"/>
            <a:ext cx="18021300" cy="7572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9 Summary</a:t>
            </a:r>
            <a:endParaRPr lang="en-US" sz="4800" dirty="0"/>
          </a:p>
        </p:txBody>
      </p:sp>
      <p:sp>
        <p:nvSpPr>
          <p:cNvPr id="5" name="Shape 3"/>
          <p:cNvSpPr/>
          <p:nvPr/>
        </p:nvSpPr>
        <p:spPr>
          <a:xfrm>
            <a:off x="952500" y="2400300"/>
            <a:ext cx="16383000" cy="942975"/>
          </a:xfrm>
          <a:prstGeom prst="roundRect">
            <a:avLst>
              <a:gd name="adj" fmla="val 16162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266825" y="2714625"/>
            <a:ext cx="16245840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Models can unintentionally leak details of their training data or configuration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952500" y="3571875"/>
            <a:ext cx="16383000" cy="942975"/>
          </a:xfrm>
          <a:prstGeom prst="roundRect">
            <a:avLst>
              <a:gd name="adj" fmla="val 16162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266825" y="3886200"/>
            <a:ext cx="16245840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Overfitting increases the likelihood of verbatim data reproduction</a:t>
            </a:r>
            <a:endParaRPr lang="en-US" sz="2100" dirty="0"/>
          </a:p>
        </p:txBody>
      </p:sp>
      <p:sp>
        <p:nvSpPr>
          <p:cNvPr id="9" name="Shape 7"/>
          <p:cNvSpPr/>
          <p:nvPr/>
        </p:nvSpPr>
        <p:spPr>
          <a:xfrm>
            <a:off x="952500" y="4743450"/>
            <a:ext cx="16383000" cy="942975"/>
          </a:xfrm>
          <a:prstGeom prst="roundRect">
            <a:avLst>
              <a:gd name="adj" fmla="val 16162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66825" y="5057775"/>
            <a:ext cx="16245840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inversion and membership inference are the core privacy-testing techniques</a:t>
            </a:r>
            <a:endParaRPr lang="en-US" sz="2100" dirty="0"/>
          </a:p>
        </p:txBody>
      </p:sp>
      <p:sp>
        <p:nvSpPr>
          <p:cNvPr id="11" name="Shape 9"/>
          <p:cNvSpPr/>
          <p:nvPr/>
        </p:nvSpPr>
        <p:spPr>
          <a:xfrm>
            <a:off x="952500" y="5915025"/>
            <a:ext cx="16383000" cy="942975"/>
          </a:xfrm>
          <a:prstGeom prst="roundRect">
            <a:avLst>
              <a:gd name="adj" fmla="val 16162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266825" y="6229350"/>
            <a:ext cx="16245840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Findings must be communicated clearly in terms of privacy and business impact</a:t>
            </a:r>
            <a:endParaRPr lang="en-US" sz="2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C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FF6A00">
                  <a:alpha val="16000"/>
                </a:srgbClr>
              </a:gs>
              <a:gs pos="50000">
                <a:srgbClr val="FF6A00">
                  <a:alpha val="0"/>
                </a:srgbClr>
              </a:gs>
            </a:gsLst>
            <a:path path="circle">
              <a:fillToRect l="0" t="0" r="100000" b="100000"/>
            </a:path>
          </a:gradFill>
          <a:ln/>
        </p:spPr>
      </p:sp>
      <p:sp>
        <p:nvSpPr>
          <p:cNvPr id="3" name="Text 1"/>
          <p:cNvSpPr/>
          <p:nvPr/>
        </p:nvSpPr>
        <p:spPr>
          <a:xfrm>
            <a:off x="952500" y="3959126"/>
            <a:ext cx="18021300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150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</a:t>
            </a:r>
            <a:endParaRPr lang="en-US" sz="1950" dirty="0"/>
          </a:p>
        </p:txBody>
      </p:sp>
      <p:sp>
        <p:nvSpPr>
          <p:cNvPr id="4" name="Text 2"/>
          <p:cNvSpPr/>
          <p:nvPr/>
        </p:nvSpPr>
        <p:spPr>
          <a:xfrm>
            <a:off x="952500" y="4440138"/>
            <a:ext cx="16874490" cy="12114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5504"/>
              </a:lnSpc>
              <a:buNone/>
            </a:pPr>
            <a:r>
              <a:rPr lang="en-US" sz="420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10: Adversarial ML, Robustness Testing &amp; Reporting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952500" y="5880199"/>
            <a:ext cx="18021300" cy="4857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000" dirty="0">
                <a:solidFill>
                  <a:srgbClr val="B8C0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 the Module 9 PBQ, Flashcards, Cheat Sheet, and Quiz before continuing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952500" y="9696450"/>
            <a:ext cx="1956509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8891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 Cyber Academy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15278174" y="9696450"/>
            <a:ext cx="2263058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150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CYBER </a:t>
            </a:r>
            <a:pPr algn="l" indent="0" marL="0">
              <a:buNone/>
            </a:pPr>
            <a:r>
              <a:rPr lang="en-US" sz="1650" b="1" spc="150" kern="0" dirty="0">
                <a:solidFill>
                  <a:srgbClr val="8891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ACADEMY</a:t>
            </a:r>
            <a:endParaRPr lang="en-US" sz="16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2026-07-27T21:52:35Z</dcterms:created>
  <dcterms:modified xsi:type="dcterms:W3CDTF">2026-07-27T21:52:35Z</dcterms:modified>
</cp:coreProperties>
</file>